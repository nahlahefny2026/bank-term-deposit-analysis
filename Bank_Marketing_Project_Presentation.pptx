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041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project as an end-to-end analysis of a real bank telemarketing dataset, combining Python, SQL, and Power BI to understand and predict term-deposit subscription behaviour. Mention this is for the NTI Data Analytics course and briefly preview that the presentation covers the data, the three technical workflows, and the business recommendations that came out of the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scale of the dataset (41,188 contacts over roughly two and a half years) and frame the core business problem: limited marketing resources mean the bank needs to target the right customers. Walk through the three-stage pipeline shown on the right — Python for preparation and modelling, SQL for structured business queries, Power BI for the interactive dashboard — and note that each is covered in its own section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objectives as a checklist for the whole project: profiling and cleaning the raw data, exploring it visually, building a baseline predictive model, writing SQL queries for specific business questions, building the Power BI dashboard, and finally translating everything into recommendations. Emphasise that this presentation is structured to follow exactly this 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dataset: 41,188 contacts, 21 columns, no explicit missing values but 12 duplicate rows which were removed. Point out the four KPI cards, then briefly categorise the columns into demographic, financial, campaign, and macroeconomic groups. Finish on the chart: the target class is heavily imbalanced — only about 11% of contacts subscribed — which becomes important later when we evaluate the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Python side of the project. Data was loaded and profiled, 12 duplicate rows were removed, and nine exploratory charts were produced. Point at the job-vs-subscription chart on the right: administrative, blue-collar, and technician roles are contacted the most, but that doesn't necessarily mean they convert the best — that comes later in the Key Insights slide. Then mention that categorical fields were one-hot encoded into 53 numeric features and a Logistic Regression baseline model was trained on an 80/20 split.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SQL was used to answer very specific business questions directly against the data, using standard techniques: counting, grouping, filtering, HAVING, CASE-based age segmentation, and ranked TOP-N selection. Walk through the featured query — the TOP 5 job categories by subscribed customers — and read off the table: admin. leads with 1,352 subscribers, followed by technician and blue-collar. Note the overall conversion split at the bottom: about 11.3% of all contacts subscribed.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Power BI executive dashboard: three headline KPI cards (Total Customers, Subscribed Customers, Subscription Rate), a month/education slicer, and six chart visuals. Since Power BI Desktop isn't available to capture live screenshots, these two charts were reconstructed in Python directly from the same fields and aggregations defined inside the report file, so the patterns match exactly what the live dashboard shows. Point out the May subscription peak and the dominance of cellular contact.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headline insights that emerged consistently across the Python, SQL, and Power BI analyses. Emphasise the contrast between contact volume and conversion rate — the segments contacted most (admin, blue-collar) are not the ones converting best. Flag the duration point as an important modelling caveat, not just an insight: it's the strongest correlate but can't be used for real-world targeting since it's only known after the call.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baseline logistic regression results. The 90.46% accuracy figure looks impressive but is inflated by class imbalance — a model that always guessed 'no' would already score near 88.7%. The more important numbers are recall and precision on the minority 'yes' class: only 40% recall, meaning the model would miss about six in ten real subscribers if used as-is for campaign targeting. This sets up the recommendation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row by row: the 'unknown' category ambiguity in cleaning, the numeric-vs-text encoding mismatch discovered in the SQL layer, the inability to open the .pbix file directly (solved by parsing its internal layout definition), and the class-imbalance challenge in evaluating the model. For each, briefly state the problem and how it was resolved.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recommendations translate the findings into concrete actions. The first three are campaign-targeting changes the marketing team can act on immediately. The fourth and fifth are important guardrails on the predictive model — it needs further work on class imbalance and must not use call duration — before it should influence who actually gets called. The last is a lightweight enhancement to the existing Power BI dashboard.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throughline: the same high-propensity segments (students, retirees, university-educated, cellular-contacted, spring campaigns) showed up consistently whether the question was asked in Python, SQL, or Power BI, which gives confidence the pattern is real. 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1F2A44"/>
          </a:solidFill>
          <a:ln/>
        </p:spPr>
      </p:sp>
      <p:sp>
        <p:nvSpPr>
          <p:cNvPr id="3" name="Text 1"/>
          <p:cNvSpPr/>
          <p:nvPr/>
        </p:nvSpPr>
        <p:spPr>
          <a:xfrm>
            <a:off x="365760" y="0"/>
            <a:ext cx="7315200" cy="457200"/>
          </a:xfrm>
          <a:prstGeom prst="rect">
            <a:avLst/>
          </a:prstGeom>
          <a:noFill/>
          <a:ln/>
        </p:spPr>
        <p:txBody>
          <a:bodyPr wrap="square" rtlCol="0" anchor="ctr"/>
          <a:lstStyle/>
          <a:p>
            <a:pPr marL="0" indent="0">
              <a:buNone/>
            </a:pPr>
            <a:r>
              <a:rPr lang="en-US" sz="1000" kern="0" spc="100" dirty="0">
                <a:solidFill>
                  <a:srgbClr val="FFFFFF"/>
                </a:solidFill>
                <a:latin typeface="Calibri" pitchFamily="34" charset="0"/>
                <a:ea typeface="Calibri" pitchFamily="34" charset="-122"/>
                <a:cs typeface="Calibri" pitchFamily="34" charset="-120"/>
              </a:rPr>
              <a:t>BANK TERM-DEPOSIT SUBSCRIPTION ANALYSIS</a:t>
            </a:r>
            <a:endParaRPr lang="en-US" sz="1000" dirty="0"/>
          </a:p>
        </p:txBody>
      </p:sp>
      <p:sp>
        <p:nvSpPr>
          <p:cNvPr id="4" name="Shape 2"/>
          <p:cNvSpPr/>
          <p:nvPr/>
        </p:nvSpPr>
        <p:spPr>
          <a:xfrm>
            <a:off x="0" y="6537960"/>
            <a:ext cx="12188952" cy="320040"/>
          </a:xfrm>
          <a:prstGeom prst="rect">
            <a:avLst/>
          </a:prstGeom>
          <a:solidFill>
            <a:srgbClr val="F4F6F9"/>
          </a:solidFill>
          <a:ln/>
        </p:spPr>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2A44"/>
          </a:solidFill>
          <a:ln/>
        </p:spPr>
      </p:sp>
      <p:sp>
        <p:nvSpPr>
          <p:cNvPr id="3" name="Text 1"/>
          <p:cNvSpPr/>
          <p:nvPr/>
        </p:nvSpPr>
        <p:spPr>
          <a:xfrm>
            <a:off x="731520" y="1371600"/>
            <a:ext cx="10698480" cy="457200"/>
          </a:xfrm>
          <a:prstGeom prst="rect">
            <a:avLst/>
          </a:prstGeom>
          <a:noFill/>
          <a:ln/>
        </p:spPr>
        <p:txBody>
          <a:bodyPr wrap="square" rtlCol="0" anchor="ctr"/>
          <a:lstStyle/>
          <a:p>
            <a:pPr marL="0" indent="0" algn="ctr">
              <a:buNone/>
            </a:pPr>
            <a:r>
              <a:rPr lang="en-US" sz="1500" b="1" kern="0" spc="150" dirty="0">
                <a:solidFill>
                  <a:srgbClr val="C9A227"/>
                </a:solidFill>
                <a:latin typeface="Calibri" pitchFamily="34" charset="0"/>
                <a:ea typeface="Calibri" pitchFamily="34" charset="-122"/>
                <a:cs typeface="Calibri" pitchFamily="34" charset="-120"/>
              </a:rPr>
              <a:t>NATIONAL TELECOMMUNICATION INSTITUTE</a:t>
            </a:r>
            <a:endParaRPr lang="en-US" sz="1500" dirty="0"/>
          </a:p>
        </p:txBody>
      </p:sp>
      <p:sp>
        <p:nvSpPr>
          <p:cNvPr id="4" name="Text 2"/>
          <p:cNvSpPr/>
          <p:nvPr/>
        </p:nvSpPr>
        <p:spPr>
          <a:xfrm>
            <a:off x="731520" y="2103120"/>
            <a:ext cx="10698480" cy="155448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Predictive Analysis of Bank Term-Deposit</a:t>
            </a:r>
            <a:endParaRPr lang="en-US" sz="3400" dirty="0"/>
          </a:p>
          <a:p>
            <a:pPr marL="0" indent="0" algn="ctr">
              <a:buNone/>
            </a:pPr>
            <a:r>
              <a:rPr lang="en-US" sz="3400" b="1" dirty="0">
                <a:solidFill>
                  <a:srgbClr val="FFFFFF"/>
                </a:solidFill>
                <a:latin typeface="Calibri" pitchFamily="34" charset="0"/>
                <a:ea typeface="Calibri" pitchFamily="34" charset="-122"/>
                <a:cs typeface="Calibri" pitchFamily="34" charset="-120"/>
              </a:rPr>
              <a:t>Subscription Behaviour</a:t>
            </a:r>
            <a:endParaRPr lang="en-US" sz="3400" dirty="0"/>
          </a:p>
        </p:txBody>
      </p:sp>
      <p:sp>
        <p:nvSpPr>
          <p:cNvPr id="5" name="Text 3"/>
          <p:cNvSpPr/>
          <p:nvPr/>
        </p:nvSpPr>
        <p:spPr>
          <a:xfrm>
            <a:off x="731520" y="3703320"/>
            <a:ext cx="10698480" cy="457200"/>
          </a:xfrm>
          <a:prstGeom prst="rect">
            <a:avLst/>
          </a:prstGeom>
          <a:noFill/>
          <a:ln/>
        </p:spPr>
        <p:txBody>
          <a:bodyPr wrap="square" rtlCol="0" anchor="ctr"/>
          <a:lstStyle/>
          <a:p>
            <a:pPr marL="0" indent="0" algn="ctr">
              <a:buNone/>
            </a:pPr>
            <a:r>
              <a:rPr lang="en-US" sz="1800" i="1" dirty="0">
                <a:solidFill>
                  <a:srgbClr val="C7CEDC"/>
                </a:solidFill>
                <a:latin typeface="Calibri" pitchFamily="34" charset="0"/>
                <a:ea typeface="Calibri" pitchFamily="34" charset="-122"/>
                <a:cs typeface="Calibri" pitchFamily="34" charset="-120"/>
              </a:rPr>
              <a:t>An End-to-End Data Analytics Project</a:t>
            </a:r>
            <a:endParaRPr lang="en-US" sz="1800" dirty="0"/>
          </a:p>
        </p:txBody>
      </p:sp>
      <p:sp>
        <p:nvSpPr>
          <p:cNvPr id="6" name="Shape 4"/>
          <p:cNvSpPr/>
          <p:nvPr/>
        </p:nvSpPr>
        <p:spPr>
          <a:xfrm>
            <a:off x="4718304" y="4297680"/>
            <a:ext cx="2743200" cy="36576"/>
          </a:xfrm>
          <a:prstGeom prst="rect">
            <a:avLst/>
          </a:prstGeom>
          <a:solidFill>
            <a:srgbClr val="C9A227"/>
          </a:solidFill>
          <a:ln/>
        </p:spPr>
      </p:sp>
      <p:sp>
        <p:nvSpPr>
          <p:cNvPr id="7" name="Text 5"/>
          <p:cNvSpPr/>
          <p:nvPr/>
        </p:nvSpPr>
        <p:spPr>
          <a:xfrm>
            <a:off x="731520" y="4480560"/>
            <a:ext cx="10698480" cy="457200"/>
          </a:xfrm>
          <a:prstGeom prst="rect">
            <a:avLst/>
          </a:prstGeom>
          <a:noFill/>
          <a:ln/>
        </p:spPr>
        <p:txBody>
          <a:bodyPr wrap="square" rtlCol="0" anchor="ctr"/>
          <a:lstStyle/>
          <a:p>
            <a:pPr marL="0" indent="0" algn="ctr">
              <a:buNone/>
            </a:pPr>
            <a:r>
              <a:rPr lang="en-US" sz="1600" b="1" kern="0" spc="200" dirty="0">
                <a:solidFill>
                  <a:srgbClr val="C9A227"/>
                </a:solidFill>
                <a:latin typeface="Calibri" pitchFamily="34" charset="0"/>
                <a:ea typeface="Calibri" pitchFamily="34" charset="-122"/>
                <a:cs typeface="Calibri" pitchFamily="34" charset="-120"/>
              </a:rPr>
              <a:t>PYTHON     •     SQL     •     POWER BI</a:t>
            </a:r>
            <a:endParaRPr lang="en-US" sz="1600" dirty="0"/>
          </a:p>
        </p:txBody>
      </p:sp>
      <p:sp>
        <p:nvSpPr>
          <p:cNvPr id="8" name="Text 6"/>
          <p:cNvSpPr/>
          <p:nvPr/>
        </p:nvSpPr>
        <p:spPr>
          <a:xfrm>
            <a:off x="731520" y="5394960"/>
            <a:ext cx="10698480" cy="1097280"/>
          </a:xfrm>
          <a:prstGeom prst="rect">
            <a:avLst/>
          </a:prstGeom>
          <a:noFill/>
          <a:ln/>
        </p:spPr>
        <p:txBody>
          <a:bodyPr wrap="square" rtlCol="0" anchor="ctr"/>
          <a:lstStyle/>
          <a:p>
            <a:pPr marL="0" indent="0" algn="ctr" rtl="1">
              <a:lnSpc>
                <a:spcPct val="130000"/>
              </a:lnSpc>
              <a:buNone/>
            </a:pPr>
            <a:r>
              <a:rPr lang="en-US" sz="1300" b="1" dirty="0">
                <a:solidFill>
                  <a:srgbClr val="C7CEDC"/>
                </a:solidFill>
                <a:latin typeface="Calibri" pitchFamily="34" charset="0"/>
                <a:ea typeface="Calibri" pitchFamily="34" charset="-122"/>
                <a:cs typeface="Calibri" pitchFamily="34" charset="-120"/>
              </a:rPr>
              <a:t>Prepared By: </a:t>
            </a:r>
            <a:r>
              <a:rPr lang="en-US" sz="1300" dirty="0">
                <a:solidFill>
                  <a:srgbClr val="FFFFFF"/>
                </a:solidFill>
                <a:latin typeface="Calibri" pitchFamily="34" charset="0"/>
                <a:ea typeface="Calibri" pitchFamily="34" charset="-122"/>
                <a:cs typeface="Calibri" pitchFamily="34" charset="-120"/>
              </a:rPr>
              <a:t>[Nahla </a:t>
            </a:r>
            <a:r>
              <a:rPr lang="en-US" sz="1300" dirty="0" err="1">
                <a:solidFill>
                  <a:srgbClr val="FFFFFF"/>
                </a:solidFill>
                <a:latin typeface="Calibri" pitchFamily="34" charset="0"/>
                <a:ea typeface="Calibri" pitchFamily="34" charset="-122"/>
                <a:cs typeface="Calibri" pitchFamily="34" charset="-120"/>
              </a:rPr>
              <a:t>Hefny</a:t>
            </a:r>
            <a:r>
              <a:rPr lang="en-US" sz="1300" dirty="0">
                <a:solidFill>
                  <a:srgbClr val="FFFFFF"/>
                </a:solidFill>
                <a:latin typeface="Calibri" pitchFamily="34" charset="0"/>
                <a:ea typeface="Calibri" pitchFamily="34" charset="-122"/>
                <a:cs typeface="Calibri" pitchFamily="34" charset="-120"/>
              </a:rPr>
              <a:t> Mahmoud]
</a:t>
            </a:r>
            <a:r>
              <a:rPr lang="en-US" sz="1300" b="1" dirty="0">
                <a:solidFill>
                  <a:srgbClr val="C7CEDC"/>
                </a:solidFill>
                <a:latin typeface="Calibri" pitchFamily="34" charset="0"/>
                <a:ea typeface="Calibri" pitchFamily="34" charset="-122"/>
                <a:cs typeface="Calibri" pitchFamily="34" charset="-120"/>
              </a:rPr>
              <a:t>Course: </a:t>
            </a:r>
            <a:r>
              <a:rPr lang="en-US" sz="1300" dirty="0">
                <a:solidFill>
                  <a:srgbClr val="FFFFFF"/>
                </a:solidFill>
                <a:latin typeface="Calibri" pitchFamily="34" charset="0"/>
                <a:ea typeface="Calibri" pitchFamily="34" charset="-122"/>
                <a:cs typeface="Calibri" pitchFamily="34" charset="-120"/>
              </a:rPr>
              <a:t>[ Data Analytics Track]
</a:t>
            </a:r>
            <a:r>
              <a:rPr lang="en-US" sz="1300" b="1" dirty="0">
                <a:solidFill>
                  <a:srgbClr val="C7CEDC"/>
                </a:solidFill>
                <a:latin typeface="Calibri" pitchFamily="34" charset="0"/>
                <a:ea typeface="Calibri" pitchFamily="34" charset="-122"/>
                <a:cs typeface="Calibri" pitchFamily="34" charset="-120"/>
              </a:rPr>
              <a:t>Instructor: </a:t>
            </a:r>
            <a:r>
              <a:rPr lang="en-US" sz="1300" dirty="0">
                <a:solidFill>
                  <a:srgbClr val="FFFFFF"/>
                </a:solidFill>
                <a:latin typeface="Calibri" pitchFamily="34" charset="0"/>
                <a:ea typeface="Calibri" pitchFamily="34" charset="-122"/>
                <a:cs typeface="Calibri" pitchFamily="34" charset="-120"/>
              </a:rPr>
              <a:t>[Donia </a:t>
            </a:r>
            <a:r>
              <a:rPr lang="en-US" sz="1300" dirty="0" err="1">
                <a:solidFill>
                  <a:srgbClr val="FFFFFF"/>
                </a:solidFill>
                <a:latin typeface="Calibri" pitchFamily="34" charset="0"/>
                <a:ea typeface="Calibri" pitchFamily="34" charset="-122"/>
                <a:cs typeface="Calibri" pitchFamily="34" charset="-120"/>
              </a:rPr>
              <a:t>Ghars</a:t>
            </a:r>
            <a:r>
              <a:rPr lang="en-US" sz="1300" dirty="0">
                <a:solidFill>
                  <a:srgbClr val="FFFFFF"/>
                </a:solidFill>
                <a:latin typeface="Calibri" pitchFamily="34" charset="0"/>
                <a:ea typeface="Calibri" pitchFamily="34" charset="-122"/>
                <a:cs typeface="Calibri" pitchFamily="34" charset="-120"/>
              </a:rPr>
              <a:t> Aldin]
</a:t>
            </a:r>
            <a:r>
              <a:rPr lang="en-US" sz="1300" b="1" dirty="0">
                <a:solidFill>
                  <a:srgbClr val="C7CEDC"/>
                </a:solidFill>
                <a:latin typeface="Calibri" pitchFamily="34" charset="0"/>
                <a:ea typeface="Calibri" pitchFamily="34" charset="-122"/>
                <a:cs typeface="Calibri" pitchFamily="34" charset="-120"/>
              </a:rPr>
              <a:t>Date: </a:t>
            </a:r>
            <a:r>
              <a:rPr lang="en-US" sz="1300">
                <a:solidFill>
                  <a:srgbClr val="FFFFFF"/>
                </a:solidFill>
                <a:latin typeface="Calibri" pitchFamily="34" charset="0"/>
                <a:ea typeface="Calibri" pitchFamily="34" charset="-122"/>
                <a:cs typeface="Calibri" pitchFamily="34" charset="-120"/>
              </a:rPr>
              <a:t>July 25, </a:t>
            </a:r>
            <a:r>
              <a:rPr lang="en-US" sz="1300" dirty="0">
                <a:solidFill>
                  <a:srgbClr val="FFFFFF"/>
                </a:solidFill>
                <a:latin typeface="Calibri" pitchFamily="34" charset="0"/>
                <a:ea typeface="Calibri" pitchFamily="34" charset="-122"/>
                <a:cs typeface="Calibri"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The Business Problem</a:t>
            </a:r>
            <a:endParaRPr lang="en-US" sz="3000" dirty="0"/>
          </a:p>
        </p:txBody>
      </p:sp>
      <p:sp>
        <p:nvSpPr>
          <p:cNvPr id="4" name="Text 2"/>
          <p:cNvSpPr/>
          <p:nvPr/>
        </p:nvSpPr>
        <p:spPr>
          <a:xfrm>
            <a:off x="548640" y="1920240"/>
            <a:ext cx="6035040" cy="3840480"/>
          </a:xfrm>
          <a:prstGeom prst="rect">
            <a:avLst/>
          </a:prstGeom>
          <a:noFill/>
          <a:ln/>
        </p:spPr>
        <p:txBody>
          <a:bodyPr wrap="square" rtlCol="0" anchor="t"/>
          <a:lstStyle/>
          <a:p>
            <a:pPr marL="228600" indent="-228600">
              <a:lnSpc>
                <a:spcPct val="115000"/>
              </a:lnSpc>
              <a:spcAft>
                <a:spcPts val="1600"/>
              </a:spcAft>
              <a:buSzPct val="100000"/>
              <a:buChar char="•"/>
            </a:pPr>
            <a:r>
              <a:rPr lang="en-US" sz="1600" dirty="0">
                <a:solidFill>
                  <a:srgbClr val="222222"/>
                </a:solidFill>
                <a:latin typeface="Calibri" pitchFamily="34" charset="0"/>
                <a:ea typeface="Calibri" pitchFamily="34" charset="-122"/>
                <a:cs typeface="Calibri" pitchFamily="34" charset="-120"/>
              </a:rPr>
              <a:t>A Portuguese bank ran phone-based term-deposit campaigns from 2008–2010, contacting 41,188 customers.</a:t>
            </a:r>
            <a:endParaRPr lang="en-US" sz="1600" dirty="0"/>
          </a:p>
          <a:p>
            <a:pPr marL="228600" indent="-228600">
              <a:lnSpc>
                <a:spcPct val="115000"/>
              </a:lnSpc>
              <a:spcAft>
                <a:spcPts val="1600"/>
              </a:spcAft>
              <a:buSzPct val="100000"/>
              <a:buChar char="•"/>
            </a:pPr>
            <a:r>
              <a:rPr lang="en-US" sz="1600" dirty="0">
                <a:solidFill>
                  <a:srgbClr val="222222"/>
                </a:solidFill>
                <a:latin typeface="Calibri" pitchFamily="34" charset="0"/>
                <a:ea typeface="Calibri" pitchFamily="34" charset="-122"/>
                <a:cs typeface="Calibri" pitchFamily="34" charset="-120"/>
              </a:rPr>
              <a:t>Marketing budgets and call-centre time are limited — calling everyone indiscriminately is inefficient.</a:t>
            </a:r>
            <a:endParaRPr lang="en-US" sz="1600" dirty="0"/>
          </a:p>
          <a:p>
            <a:pPr marL="228600" indent="-228600">
              <a:lnSpc>
                <a:spcPct val="115000"/>
              </a:lnSpc>
              <a:spcAft>
                <a:spcPts val="1600"/>
              </a:spcAft>
              <a:buSzPct val="100000"/>
              <a:buChar char="•"/>
            </a:pPr>
            <a:r>
              <a:rPr lang="en-US" sz="1600" dirty="0">
                <a:solidFill>
                  <a:srgbClr val="222222"/>
                </a:solidFill>
                <a:latin typeface="Calibri" pitchFamily="34" charset="0"/>
                <a:ea typeface="Calibri" pitchFamily="34" charset="-122"/>
                <a:cs typeface="Calibri" pitchFamily="34" charset="-120"/>
              </a:rPr>
              <a:t>Business question: which customers and conditions are associated with a higher chance of subscribing, and can that be predicted in advance?</a:t>
            </a:r>
            <a:endParaRPr lang="en-US" sz="1600" dirty="0"/>
          </a:p>
          <a:p>
            <a:pPr marL="228600" indent="-228600">
              <a:lnSpc>
                <a:spcPct val="115000"/>
              </a:lnSpc>
              <a:spcAft>
                <a:spcPts val="1600"/>
              </a:spcAft>
              <a:buSzPct val="100000"/>
              <a:buChar char="•"/>
            </a:pPr>
            <a:r>
              <a:rPr lang="en-US" sz="1600" dirty="0">
                <a:solidFill>
                  <a:srgbClr val="222222"/>
                </a:solidFill>
                <a:latin typeface="Calibri" pitchFamily="34" charset="0"/>
                <a:ea typeface="Calibri" pitchFamily="34" charset="-122"/>
                <a:cs typeface="Calibri" pitchFamily="34" charset="-120"/>
              </a:rPr>
              <a:t>This project answers that question using three complementary tools, each suited to a stage of the analytics pipeline.</a:t>
            </a:r>
            <a:endParaRPr lang="en-US" sz="1600" dirty="0"/>
          </a:p>
        </p:txBody>
      </p:sp>
      <p:sp>
        <p:nvSpPr>
          <p:cNvPr id="5" name="Shape 3"/>
          <p:cNvSpPr/>
          <p:nvPr/>
        </p:nvSpPr>
        <p:spPr>
          <a:xfrm>
            <a:off x="7040880" y="2103120"/>
            <a:ext cx="4480560" cy="960120"/>
          </a:xfrm>
          <a:prstGeom prst="roundRect">
            <a:avLst>
              <a:gd name="adj" fmla="val 7619"/>
            </a:avLst>
          </a:prstGeom>
          <a:solidFill>
            <a:srgbClr val="F4F6F9"/>
          </a:solidFill>
          <a:ln w="19050">
            <a:solidFill>
              <a:srgbClr val="1F2A44"/>
            </a:solidFill>
            <a:prstDash val="solid"/>
          </a:ln>
        </p:spPr>
      </p:sp>
      <p:sp>
        <p:nvSpPr>
          <p:cNvPr id="6" name="Text 4"/>
          <p:cNvSpPr/>
          <p:nvPr/>
        </p:nvSpPr>
        <p:spPr>
          <a:xfrm>
            <a:off x="7223760" y="2176272"/>
            <a:ext cx="4114800" cy="365760"/>
          </a:xfrm>
          <a:prstGeom prst="rect">
            <a:avLst/>
          </a:prstGeom>
          <a:noFill/>
          <a:ln/>
        </p:spPr>
        <p:txBody>
          <a:bodyPr wrap="square"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PYTHON</a:t>
            </a:r>
            <a:endParaRPr lang="en-US" sz="1600" dirty="0"/>
          </a:p>
        </p:txBody>
      </p:sp>
      <p:sp>
        <p:nvSpPr>
          <p:cNvPr id="7" name="Text 5"/>
          <p:cNvSpPr/>
          <p:nvPr/>
        </p:nvSpPr>
        <p:spPr>
          <a:xfrm>
            <a:off x="7223760" y="2560320"/>
            <a:ext cx="4114800" cy="41148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Clean, explore &amp; model the data</a:t>
            </a:r>
            <a:endParaRPr lang="en-US" sz="1250" dirty="0"/>
          </a:p>
        </p:txBody>
      </p:sp>
      <p:sp>
        <p:nvSpPr>
          <p:cNvPr id="8" name="Text 6"/>
          <p:cNvSpPr/>
          <p:nvPr/>
        </p:nvSpPr>
        <p:spPr>
          <a:xfrm>
            <a:off x="9144000" y="3081528"/>
            <a:ext cx="274320" cy="365760"/>
          </a:xfrm>
          <a:prstGeom prst="rect">
            <a:avLst/>
          </a:prstGeom>
          <a:noFill/>
          <a:ln/>
        </p:spPr>
        <p:txBody>
          <a:bodyPr wrap="square" rtlCol="0" anchor="ctr"/>
          <a:lstStyle/>
          <a:p>
            <a:pPr marL="0" indent="0" algn="ctr">
              <a:buNone/>
            </a:pPr>
            <a:r>
              <a:rPr lang="en-US" sz="2000" dirty="0">
                <a:solidFill>
                  <a:srgbClr val="1F2A44"/>
                </a:solidFill>
              </a:rPr>
              <a:t>↓</a:t>
            </a:r>
            <a:endParaRPr lang="en-US" sz="2000" dirty="0"/>
          </a:p>
        </p:txBody>
      </p:sp>
      <p:sp>
        <p:nvSpPr>
          <p:cNvPr id="9" name="Shape 7"/>
          <p:cNvSpPr/>
          <p:nvPr/>
        </p:nvSpPr>
        <p:spPr>
          <a:xfrm>
            <a:off x="7040880" y="3474720"/>
            <a:ext cx="4480560" cy="960120"/>
          </a:xfrm>
          <a:prstGeom prst="roundRect">
            <a:avLst>
              <a:gd name="adj" fmla="val 7619"/>
            </a:avLst>
          </a:prstGeom>
          <a:solidFill>
            <a:srgbClr val="F4F6F9"/>
          </a:solidFill>
          <a:ln w="19050">
            <a:solidFill>
              <a:srgbClr val="2E4374"/>
            </a:solidFill>
            <a:prstDash val="solid"/>
          </a:ln>
        </p:spPr>
      </p:sp>
      <p:sp>
        <p:nvSpPr>
          <p:cNvPr id="10" name="Text 8"/>
          <p:cNvSpPr/>
          <p:nvPr/>
        </p:nvSpPr>
        <p:spPr>
          <a:xfrm>
            <a:off x="7223760" y="3547872"/>
            <a:ext cx="4114800" cy="365760"/>
          </a:xfrm>
          <a:prstGeom prst="rect">
            <a:avLst/>
          </a:prstGeom>
          <a:noFill/>
          <a:ln/>
        </p:spPr>
        <p:txBody>
          <a:bodyPr wrap="square" rtlCol="0" anchor="ctr"/>
          <a:lstStyle/>
          <a:p>
            <a:pPr marL="0" indent="0">
              <a:buNone/>
            </a:pPr>
            <a:r>
              <a:rPr lang="en-US" sz="1600" b="1" dirty="0">
                <a:solidFill>
                  <a:srgbClr val="2E4374"/>
                </a:solidFill>
                <a:latin typeface="Calibri" pitchFamily="34" charset="0"/>
                <a:ea typeface="Calibri" pitchFamily="34" charset="-122"/>
                <a:cs typeface="Calibri" pitchFamily="34" charset="-120"/>
              </a:rPr>
              <a:t>SQL</a:t>
            </a:r>
            <a:endParaRPr lang="en-US" sz="1600" dirty="0"/>
          </a:p>
        </p:txBody>
      </p:sp>
      <p:sp>
        <p:nvSpPr>
          <p:cNvPr id="11" name="Text 9"/>
          <p:cNvSpPr/>
          <p:nvPr/>
        </p:nvSpPr>
        <p:spPr>
          <a:xfrm>
            <a:off x="7223760" y="3931920"/>
            <a:ext cx="4114800" cy="41148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Answer business questions via queries</a:t>
            </a:r>
            <a:endParaRPr lang="en-US" sz="1250" dirty="0"/>
          </a:p>
        </p:txBody>
      </p:sp>
      <p:sp>
        <p:nvSpPr>
          <p:cNvPr id="12" name="Text 10"/>
          <p:cNvSpPr/>
          <p:nvPr/>
        </p:nvSpPr>
        <p:spPr>
          <a:xfrm>
            <a:off x="9144000" y="4453128"/>
            <a:ext cx="274320" cy="365760"/>
          </a:xfrm>
          <a:prstGeom prst="rect">
            <a:avLst/>
          </a:prstGeom>
          <a:noFill/>
          <a:ln/>
        </p:spPr>
        <p:txBody>
          <a:bodyPr wrap="square" rtlCol="0" anchor="ctr"/>
          <a:lstStyle/>
          <a:p>
            <a:pPr marL="0" indent="0" algn="ctr">
              <a:buNone/>
            </a:pPr>
            <a:r>
              <a:rPr lang="en-US" sz="2000" dirty="0">
                <a:solidFill>
                  <a:srgbClr val="2E4374"/>
                </a:solidFill>
              </a:rPr>
              <a:t>↓</a:t>
            </a:r>
            <a:endParaRPr lang="en-US" sz="2000" dirty="0"/>
          </a:p>
        </p:txBody>
      </p:sp>
      <p:sp>
        <p:nvSpPr>
          <p:cNvPr id="13" name="Shape 11"/>
          <p:cNvSpPr/>
          <p:nvPr/>
        </p:nvSpPr>
        <p:spPr>
          <a:xfrm>
            <a:off x="7040880" y="4846320"/>
            <a:ext cx="4480560" cy="960120"/>
          </a:xfrm>
          <a:prstGeom prst="roundRect">
            <a:avLst>
              <a:gd name="adj" fmla="val 7619"/>
            </a:avLst>
          </a:prstGeom>
          <a:solidFill>
            <a:srgbClr val="F4F6F9"/>
          </a:solidFill>
          <a:ln w="19050">
            <a:solidFill>
              <a:srgbClr val="C9A227"/>
            </a:solidFill>
            <a:prstDash val="solid"/>
          </a:ln>
        </p:spPr>
      </p:sp>
      <p:sp>
        <p:nvSpPr>
          <p:cNvPr id="14" name="Text 12"/>
          <p:cNvSpPr/>
          <p:nvPr/>
        </p:nvSpPr>
        <p:spPr>
          <a:xfrm>
            <a:off x="7223760" y="4919472"/>
            <a:ext cx="4114800" cy="365760"/>
          </a:xfrm>
          <a:prstGeom prst="rect">
            <a:avLst/>
          </a:prstGeom>
          <a:noFill/>
          <a:ln/>
        </p:spPr>
        <p:txBody>
          <a:bodyPr wrap="square" rtlCol="0" anchor="ctr"/>
          <a:lstStyle/>
          <a:p>
            <a:pPr marL="0" indent="0">
              <a:buNone/>
            </a:pPr>
            <a:r>
              <a:rPr lang="en-US" sz="1600" b="1" dirty="0">
                <a:solidFill>
                  <a:srgbClr val="C9A227"/>
                </a:solidFill>
                <a:latin typeface="Calibri" pitchFamily="34" charset="0"/>
                <a:ea typeface="Calibri" pitchFamily="34" charset="-122"/>
                <a:cs typeface="Calibri" pitchFamily="34" charset="-120"/>
              </a:rPr>
              <a:t>POWER BI</a:t>
            </a:r>
            <a:endParaRPr lang="en-US" sz="1600" dirty="0"/>
          </a:p>
        </p:txBody>
      </p:sp>
      <p:sp>
        <p:nvSpPr>
          <p:cNvPr id="15" name="Text 13"/>
          <p:cNvSpPr/>
          <p:nvPr/>
        </p:nvSpPr>
        <p:spPr>
          <a:xfrm>
            <a:off x="7223760" y="5303520"/>
            <a:ext cx="4114800" cy="41148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Build an interactive executive dashboard</a:t>
            </a:r>
            <a:endParaRPr lang="en-US" sz="1250" dirty="0"/>
          </a:p>
        </p:txBody>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PROJECT OBJECTIVES</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What This Project Set Out to Do</a:t>
            </a:r>
            <a:endParaRPr lang="en-US" sz="3000" dirty="0"/>
          </a:p>
        </p:txBody>
      </p:sp>
      <p:sp>
        <p:nvSpPr>
          <p:cNvPr id="4" name="Shape 2"/>
          <p:cNvSpPr/>
          <p:nvPr/>
        </p:nvSpPr>
        <p:spPr>
          <a:xfrm>
            <a:off x="548640" y="1965960"/>
            <a:ext cx="3611880" cy="1874520"/>
          </a:xfrm>
          <a:prstGeom prst="roundRect">
            <a:avLst>
              <a:gd name="adj" fmla="val 3902"/>
            </a:avLst>
          </a:prstGeom>
          <a:solidFill>
            <a:srgbClr val="F4F6F9"/>
          </a:solidFill>
          <a:ln w="12700">
            <a:solidFill>
              <a:srgbClr val="DADFE6"/>
            </a:solidFill>
            <a:prstDash val="solid"/>
          </a:ln>
        </p:spPr>
      </p:sp>
      <p:sp>
        <p:nvSpPr>
          <p:cNvPr id="5" name="Shape 3"/>
          <p:cNvSpPr/>
          <p:nvPr/>
        </p:nvSpPr>
        <p:spPr>
          <a:xfrm>
            <a:off x="548640" y="1965960"/>
            <a:ext cx="82296" cy="1874520"/>
          </a:xfrm>
          <a:prstGeom prst="rect">
            <a:avLst/>
          </a:prstGeom>
          <a:solidFill>
            <a:srgbClr val="1F2A44"/>
          </a:solidFill>
          <a:ln/>
        </p:spPr>
      </p:sp>
      <p:sp>
        <p:nvSpPr>
          <p:cNvPr id="6" name="Text 4"/>
          <p:cNvSpPr/>
          <p:nvPr/>
        </p:nvSpPr>
        <p:spPr>
          <a:xfrm>
            <a:off x="777240" y="2075688"/>
            <a:ext cx="914400" cy="457200"/>
          </a:xfrm>
          <a:prstGeom prst="rect">
            <a:avLst/>
          </a:prstGeom>
          <a:noFill/>
          <a:ln/>
        </p:spPr>
        <p:txBody>
          <a:bodyPr wrap="square" rtlCol="0" anchor="ctr"/>
          <a:lstStyle/>
          <a:p>
            <a:pPr marL="0" indent="0">
              <a:buNone/>
            </a:pPr>
            <a:r>
              <a:rPr lang="en-US" sz="2000" b="1" dirty="0">
                <a:solidFill>
                  <a:srgbClr val="1F2A44"/>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777240" y="2532888"/>
            <a:ext cx="3154680" cy="45720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Profile &amp; Clean</a:t>
            </a:r>
            <a:endParaRPr lang="en-US" sz="1600" dirty="0"/>
          </a:p>
        </p:txBody>
      </p:sp>
      <p:sp>
        <p:nvSpPr>
          <p:cNvPr id="8" name="Text 6"/>
          <p:cNvSpPr/>
          <p:nvPr/>
        </p:nvSpPr>
        <p:spPr>
          <a:xfrm>
            <a:off x="777240" y="2990088"/>
            <a:ext cx="3154680" cy="73152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Assess data quality and remove duplicates</a:t>
            </a:r>
            <a:endParaRPr lang="en-US" sz="1250" dirty="0"/>
          </a:p>
        </p:txBody>
      </p:sp>
      <p:sp>
        <p:nvSpPr>
          <p:cNvPr id="9" name="Shape 7"/>
          <p:cNvSpPr/>
          <p:nvPr/>
        </p:nvSpPr>
        <p:spPr>
          <a:xfrm>
            <a:off x="4389120" y="1965960"/>
            <a:ext cx="3611880" cy="1874520"/>
          </a:xfrm>
          <a:prstGeom prst="roundRect">
            <a:avLst>
              <a:gd name="adj" fmla="val 3902"/>
            </a:avLst>
          </a:prstGeom>
          <a:solidFill>
            <a:srgbClr val="F4F6F9"/>
          </a:solidFill>
          <a:ln w="12700">
            <a:solidFill>
              <a:srgbClr val="DADFE6"/>
            </a:solidFill>
            <a:prstDash val="solid"/>
          </a:ln>
        </p:spPr>
      </p:sp>
      <p:sp>
        <p:nvSpPr>
          <p:cNvPr id="10" name="Shape 8"/>
          <p:cNvSpPr/>
          <p:nvPr/>
        </p:nvSpPr>
        <p:spPr>
          <a:xfrm>
            <a:off x="4389120" y="1965960"/>
            <a:ext cx="82296" cy="1874520"/>
          </a:xfrm>
          <a:prstGeom prst="rect">
            <a:avLst/>
          </a:prstGeom>
          <a:solidFill>
            <a:srgbClr val="C9A227"/>
          </a:solidFill>
          <a:ln/>
        </p:spPr>
      </p:sp>
      <p:sp>
        <p:nvSpPr>
          <p:cNvPr id="11" name="Text 9"/>
          <p:cNvSpPr/>
          <p:nvPr/>
        </p:nvSpPr>
        <p:spPr>
          <a:xfrm>
            <a:off x="4617720" y="2075688"/>
            <a:ext cx="914400" cy="457200"/>
          </a:xfrm>
          <a:prstGeom prst="rect">
            <a:avLst/>
          </a:prstGeom>
          <a:noFill/>
          <a:ln/>
        </p:spPr>
        <p:txBody>
          <a:bodyPr wrap="square" rtlCol="0" anchor="ctr"/>
          <a:lstStyle/>
          <a:p>
            <a:pPr marL="0" indent="0">
              <a:buNone/>
            </a:pPr>
            <a:r>
              <a:rPr lang="en-US" sz="2000" b="1" dirty="0">
                <a:solidFill>
                  <a:srgbClr val="9C7A00"/>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4617720" y="2532888"/>
            <a:ext cx="3154680" cy="45720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Explore (EDA)</a:t>
            </a:r>
            <a:endParaRPr lang="en-US" sz="1600" dirty="0"/>
          </a:p>
        </p:txBody>
      </p:sp>
      <p:sp>
        <p:nvSpPr>
          <p:cNvPr id="13" name="Text 11"/>
          <p:cNvSpPr/>
          <p:nvPr/>
        </p:nvSpPr>
        <p:spPr>
          <a:xfrm>
            <a:off x="4617720" y="2990088"/>
            <a:ext cx="3154680" cy="73152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Uncover patterns between attributes and subscription</a:t>
            </a:r>
            <a:endParaRPr lang="en-US" sz="1250" dirty="0"/>
          </a:p>
        </p:txBody>
      </p:sp>
      <p:sp>
        <p:nvSpPr>
          <p:cNvPr id="14" name="Shape 12"/>
          <p:cNvSpPr/>
          <p:nvPr/>
        </p:nvSpPr>
        <p:spPr>
          <a:xfrm>
            <a:off x="8229600" y="1965960"/>
            <a:ext cx="3611880" cy="1874520"/>
          </a:xfrm>
          <a:prstGeom prst="roundRect">
            <a:avLst>
              <a:gd name="adj" fmla="val 3902"/>
            </a:avLst>
          </a:prstGeom>
          <a:solidFill>
            <a:srgbClr val="F4F6F9"/>
          </a:solidFill>
          <a:ln w="12700">
            <a:solidFill>
              <a:srgbClr val="DADFE6"/>
            </a:solidFill>
            <a:prstDash val="solid"/>
          </a:ln>
        </p:spPr>
      </p:sp>
      <p:sp>
        <p:nvSpPr>
          <p:cNvPr id="15" name="Shape 13"/>
          <p:cNvSpPr/>
          <p:nvPr/>
        </p:nvSpPr>
        <p:spPr>
          <a:xfrm>
            <a:off x="8229600" y="1965960"/>
            <a:ext cx="82296" cy="1874520"/>
          </a:xfrm>
          <a:prstGeom prst="rect">
            <a:avLst/>
          </a:prstGeom>
          <a:solidFill>
            <a:srgbClr val="1F2A44"/>
          </a:solidFill>
          <a:ln/>
        </p:spPr>
      </p:sp>
      <p:sp>
        <p:nvSpPr>
          <p:cNvPr id="16" name="Text 14"/>
          <p:cNvSpPr/>
          <p:nvPr/>
        </p:nvSpPr>
        <p:spPr>
          <a:xfrm>
            <a:off x="8458200" y="2075688"/>
            <a:ext cx="914400" cy="457200"/>
          </a:xfrm>
          <a:prstGeom prst="rect">
            <a:avLst/>
          </a:prstGeom>
          <a:noFill/>
          <a:ln/>
        </p:spPr>
        <p:txBody>
          <a:bodyPr wrap="square" rtlCol="0" anchor="ctr"/>
          <a:lstStyle/>
          <a:p>
            <a:pPr marL="0" indent="0">
              <a:buNone/>
            </a:pPr>
            <a:r>
              <a:rPr lang="en-US" sz="2000" b="1" dirty="0">
                <a:solidFill>
                  <a:srgbClr val="1F2A44"/>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8458200" y="2532888"/>
            <a:ext cx="3154680" cy="45720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Model</a:t>
            </a:r>
            <a:endParaRPr lang="en-US" sz="1600" dirty="0"/>
          </a:p>
        </p:txBody>
      </p:sp>
      <p:sp>
        <p:nvSpPr>
          <p:cNvPr id="18" name="Text 16"/>
          <p:cNvSpPr/>
          <p:nvPr/>
        </p:nvSpPr>
        <p:spPr>
          <a:xfrm>
            <a:off x="8458200" y="2990088"/>
            <a:ext cx="3154680" cy="73152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Train and honestly evaluate a baseline classifier</a:t>
            </a:r>
            <a:endParaRPr lang="en-US" sz="1250" dirty="0"/>
          </a:p>
        </p:txBody>
      </p:sp>
      <p:sp>
        <p:nvSpPr>
          <p:cNvPr id="19" name="Shape 17"/>
          <p:cNvSpPr/>
          <p:nvPr/>
        </p:nvSpPr>
        <p:spPr>
          <a:xfrm>
            <a:off x="548640" y="4114800"/>
            <a:ext cx="3611880" cy="1874520"/>
          </a:xfrm>
          <a:prstGeom prst="roundRect">
            <a:avLst>
              <a:gd name="adj" fmla="val 3902"/>
            </a:avLst>
          </a:prstGeom>
          <a:solidFill>
            <a:srgbClr val="F4F6F9"/>
          </a:solidFill>
          <a:ln w="12700">
            <a:solidFill>
              <a:srgbClr val="DADFE6"/>
            </a:solidFill>
            <a:prstDash val="solid"/>
          </a:ln>
        </p:spPr>
      </p:sp>
      <p:sp>
        <p:nvSpPr>
          <p:cNvPr id="20" name="Shape 18"/>
          <p:cNvSpPr/>
          <p:nvPr/>
        </p:nvSpPr>
        <p:spPr>
          <a:xfrm>
            <a:off x="548640" y="4114800"/>
            <a:ext cx="82296" cy="1874520"/>
          </a:xfrm>
          <a:prstGeom prst="rect">
            <a:avLst/>
          </a:prstGeom>
          <a:solidFill>
            <a:srgbClr val="C9A227"/>
          </a:solidFill>
          <a:ln/>
        </p:spPr>
      </p:sp>
      <p:sp>
        <p:nvSpPr>
          <p:cNvPr id="21" name="Text 19"/>
          <p:cNvSpPr/>
          <p:nvPr/>
        </p:nvSpPr>
        <p:spPr>
          <a:xfrm>
            <a:off x="777240" y="4224528"/>
            <a:ext cx="914400" cy="457200"/>
          </a:xfrm>
          <a:prstGeom prst="rect">
            <a:avLst/>
          </a:prstGeom>
          <a:noFill/>
          <a:ln/>
        </p:spPr>
        <p:txBody>
          <a:bodyPr wrap="square" rtlCol="0" anchor="ctr"/>
          <a:lstStyle/>
          <a:p>
            <a:pPr marL="0" indent="0">
              <a:buNone/>
            </a:pPr>
            <a:r>
              <a:rPr lang="en-US" sz="2000" b="1" dirty="0">
                <a:solidFill>
                  <a:srgbClr val="9C7A00"/>
                </a:solidFill>
                <a:latin typeface="Calibri" pitchFamily="34" charset="0"/>
                <a:ea typeface="Calibri" pitchFamily="34" charset="-122"/>
                <a:cs typeface="Calibri" pitchFamily="34" charset="-120"/>
              </a:rPr>
              <a:t>04</a:t>
            </a:r>
            <a:endParaRPr lang="en-US" sz="2000" dirty="0"/>
          </a:p>
        </p:txBody>
      </p:sp>
      <p:sp>
        <p:nvSpPr>
          <p:cNvPr id="22" name="Text 20"/>
          <p:cNvSpPr/>
          <p:nvPr/>
        </p:nvSpPr>
        <p:spPr>
          <a:xfrm>
            <a:off x="777240" y="4681728"/>
            <a:ext cx="3154680" cy="45720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Query (SQL)</a:t>
            </a:r>
            <a:endParaRPr lang="en-US" sz="1600" dirty="0"/>
          </a:p>
        </p:txBody>
      </p:sp>
      <p:sp>
        <p:nvSpPr>
          <p:cNvPr id="23" name="Text 21"/>
          <p:cNvSpPr/>
          <p:nvPr/>
        </p:nvSpPr>
        <p:spPr>
          <a:xfrm>
            <a:off x="777240" y="5138928"/>
            <a:ext cx="3154680" cy="73152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Answer business questions with structured queries</a:t>
            </a:r>
            <a:endParaRPr lang="en-US" sz="1250" dirty="0"/>
          </a:p>
        </p:txBody>
      </p:sp>
      <p:sp>
        <p:nvSpPr>
          <p:cNvPr id="24" name="Shape 22"/>
          <p:cNvSpPr/>
          <p:nvPr/>
        </p:nvSpPr>
        <p:spPr>
          <a:xfrm>
            <a:off x="4389120" y="4114800"/>
            <a:ext cx="3611880" cy="1874520"/>
          </a:xfrm>
          <a:prstGeom prst="roundRect">
            <a:avLst>
              <a:gd name="adj" fmla="val 3902"/>
            </a:avLst>
          </a:prstGeom>
          <a:solidFill>
            <a:srgbClr val="F4F6F9"/>
          </a:solidFill>
          <a:ln w="12700">
            <a:solidFill>
              <a:srgbClr val="DADFE6"/>
            </a:solidFill>
            <a:prstDash val="solid"/>
          </a:ln>
        </p:spPr>
      </p:sp>
      <p:sp>
        <p:nvSpPr>
          <p:cNvPr id="25" name="Shape 23"/>
          <p:cNvSpPr/>
          <p:nvPr/>
        </p:nvSpPr>
        <p:spPr>
          <a:xfrm>
            <a:off x="4389120" y="4114800"/>
            <a:ext cx="82296" cy="1874520"/>
          </a:xfrm>
          <a:prstGeom prst="rect">
            <a:avLst/>
          </a:prstGeom>
          <a:solidFill>
            <a:srgbClr val="1F2A44"/>
          </a:solidFill>
          <a:ln/>
        </p:spPr>
      </p:sp>
      <p:sp>
        <p:nvSpPr>
          <p:cNvPr id="26" name="Text 24"/>
          <p:cNvSpPr/>
          <p:nvPr/>
        </p:nvSpPr>
        <p:spPr>
          <a:xfrm>
            <a:off x="4617720" y="4224528"/>
            <a:ext cx="914400" cy="457200"/>
          </a:xfrm>
          <a:prstGeom prst="rect">
            <a:avLst/>
          </a:prstGeom>
          <a:noFill/>
          <a:ln/>
        </p:spPr>
        <p:txBody>
          <a:bodyPr wrap="square" rtlCol="0" anchor="ctr"/>
          <a:lstStyle/>
          <a:p>
            <a:pPr marL="0" indent="0">
              <a:buNone/>
            </a:pPr>
            <a:r>
              <a:rPr lang="en-US" sz="2000" b="1" dirty="0">
                <a:solidFill>
                  <a:srgbClr val="1F2A44"/>
                </a:solidFill>
                <a:latin typeface="Calibri" pitchFamily="34" charset="0"/>
                <a:ea typeface="Calibri" pitchFamily="34" charset="-122"/>
                <a:cs typeface="Calibri" pitchFamily="34" charset="-120"/>
              </a:rPr>
              <a:t>05</a:t>
            </a:r>
            <a:endParaRPr lang="en-US" sz="2000" dirty="0"/>
          </a:p>
        </p:txBody>
      </p:sp>
      <p:sp>
        <p:nvSpPr>
          <p:cNvPr id="27" name="Text 25"/>
          <p:cNvSpPr/>
          <p:nvPr/>
        </p:nvSpPr>
        <p:spPr>
          <a:xfrm>
            <a:off x="4617720" y="4681728"/>
            <a:ext cx="3154680" cy="45720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Visualise (Power BI)</a:t>
            </a:r>
            <a:endParaRPr lang="en-US" sz="1600" dirty="0"/>
          </a:p>
        </p:txBody>
      </p:sp>
      <p:sp>
        <p:nvSpPr>
          <p:cNvPr id="28" name="Text 26"/>
          <p:cNvSpPr/>
          <p:nvPr/>
        </p:nvSpPr>
        <p:spPr>
          <a:xfrm>
            <a:off x="4617720" y="5138928"/>
            <a:ext cx="3154680" cy="73152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Build an interactive KPI dashboard</a:t>
            </a:r>
            <a:endParaRPr lang="en-US" sz="1250" dirty="0"/>
          </a:p>
        </p:txBody>
      </p:sp>
      <p:sp>
        <p:nvSpPr>
          <p:cNvPr id="29" name="Shape 27"/>
          <p:cNvSpPr/>
          <p:nvPr/>
        </p:nvSpPr>
        <p:spPr>
          <a:xfrm>
            <a:off x="8229600" y="4114800"/>
            <a:ext cx="3611880" cy="1874520"/>
          </a:xfrm>
          <a:prstGeom prst="roundRect">
            <a:avLst>
              <a:gd name="adj" fmla="val 3902"/>
            </a:avLst>
          </a:prstGeom>
          <a:solidFill>
            <a:srgbClr val="F4F6F9"/>
          </a:solidFill>
          <a:ln w="12700">
            <a:solidFill>
              <a:srgbClr val="DADFE6"/>
            </a:solidFill>
            <a:prstDash val="solid"/>
          </a:ln>
        </p:spPr>
      </p:sp>
      <p:sp>
        <p:nvSpPr>
          <p:cNvPr id="30" name="Shape 28"/>
          <p:cNvSpPr/>
          <p:nvPr/>
        </p:nvSpPr>
        <p:spPr>
          <a:xfrm>
            <a:off x="8229600" y="4114800"/>
            <a:ext cx="82296" cy="1874520"/>
          </a:xfrm>
          <a:prstGeom prst="rect">
            <a:avLst/>
          </a:prstGeom>
          <a:solidFill>
            <a:srgbClr val="C9A227"/>
          </a:solidFill>
          <a:ln/>
        </p:spPr>
      </p:sp>
      <p:sp>
        <p:nvSpPr>
          <p:cNvPr id="31" name="Text 29"/>
          <p:cNvSpPr/>
          <p:nvPr/>
        </p:nvSpPr>
        <p:spPr>
          <a:xfrm>
            <a:off x="8458200" y="4224528"/>
            <a:ext cx="914400" cy="457200"/>
          </a:xfrm>
          <a:prstGeom prst="rect">
            <a:avLst/>
          </a:prstGeom>
          <a:noFill/>
          <a:ln/>
        </p:spPr>
        <p:txBody>
          <a:bodyPr wrap="square" rtlCol="0" anchor="ctr"/>
          <a:lstStyle/>
          <a:p>
            <a:pPr marL="0" indent="0">
              <a:buNone/>
            </a:pPr>
            <a:r>
              <a:rPr lang="en-US" sz="2000" b="1" dirty="0">
                <a:solidFill>
                  <a:srgbClr val="9C7A00"/>
                </a:solidFill>
                <a:latin typeface="Calibri" pitchFamily="34" charset="0"/>
                <a:ea typeface="Calibri" pitchFamily="34" charset="-122"/>
                <a:cs typeface="Calibri" pitchFamily="34" charset="-120"/>
              </a:rPr>
              <a:t>06</a:t>
            </a:r>
            <a:endParaRPr lang="en-US" sz="2000" dirty="0"/>
          </a:p>
        </p:txBody>
      </p:sp>
      <p:sp>
        <p:nvSpPr>
          <p:cNvPr id="32" name="Text 30"/>
          <p:cNvSpPr/>
          <p:nvPr/>
        </p:nvSpPr>
        <p:spPr>
          <a:xfrm>
            <a:off x="8458200" y="4681728"/>
            <a:ext cx="3154680" cy="45720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Recommend</a:t>
            </a:r>
            <a:endParaRPr lang="en-US" sz="1600" dirty="0"/>
          </a:p>
        </p:txBody>
      </p:sp>
      <p:sp>
        <p:nvSpPr>
          <p:cNvPr id="33" name="Text 31"/>
          <p:cNvSpPr/>
          <p:nvPr/>
        </p:nvSpPr>
        <p:spPr>
          <a:xfrm>
            <a:off x="8458200" y="5138928"/>
            <a:ext cx="3154680" cy="73152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Turn findings into data-driven business actions</a:t>
            </a:r>
            <a:endParaRPr lang="en-US" sz="1250" dirty="0"/>
          </a:p>
        </p:txBody>
      </p:sp>
      <p:sp>
        <p:nvSpPr>
          <p:cNvPr id="34"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DATASET OVERVIEW</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Bank-Additional-Full.csv</a:t>
            </a:r>
            <a:endParaRPr lang="en-US" sz="3000" dirty="0"/>
          </a:p>
        </p:txBody>
      </p:sp>
      <p:sp>
        <p:nvSpPr>
          <p:cNvPr id="4" name="Shape 2"/>
          <p:cNvSpPr/>
          <p:nvPr/>
        </p:nvSpPr>
        <p:spPr>
          <a:xfrm>
            <a:off x="548640" y="1965960"/>
            <a:ext cx="2606040" cy="1188720"/>
          </a:xfrm>
          <a:prstGeom prst="roundRect">
            <a:avLst>
              <a:gd name="adj" fmla="val 6154"/>
            </a:avLst>
          </a:prstGeom>
          <a:solidFill>
            <a:srgbClr val="1F2A44"/>
          </a:solidFill>
          <a:ln/>
        </p:spPr>
      </p:sp>
      <p:sp>
        <p:nvSpPr>
          <p:cNvPr id="5" name="Text 3"/>
          <p:cNvSpPr/>
          <p:nvPr/>
        </p:nvSpPr>
        <p:spPr>
          <a:xfrm>
            <a:off x="548640" y="2075688"/>
            <a:ext cx="2606040" cy="594360"/>
          </a:xfrm>
          <a:prstGeom prst="rect">
            <a:avLst/>
          </a:prstGeom>
          <a:noFill/>
          <a:ln/>
        </p:spPr>
        <p:txBody>
          <a:bodyPr wrap="square" rtlCol="0" anchor="ctr"/>
          <a:lstStyle/>
          <a:p>
            <a:pPr marL="0" indent="0" algn="ctr">
              <a:buNone/>
            </a:pPr>
            <a:r>
              <a:rPr lang="en-US" sz="2600" b="1" dirty="0">
                <a:solidFill>
                  <a:srgbClr val="C9A227"/>
                </a:solidFill>
                <a:latin typeface="Calibri" pitchFamily="34" charset="0"/>
                <a:ea typeface="Calibri" pitchFamily="34" charset="-122"/>
                <a:cs typeface="Calibri" pitchFamily="34" charset="-120"/>
              </a:rPr>
              <a:t>41,188</a:t>
            </a:r>
            <a:endParaRPr lang="en-US" sz="2600" dirty="0"/>
          </a:p>
        </p:txBody>
      </p:sp>
      <p:sp>
        <p:nvSpPr>
          <p:cNvPr id="6" name="Text 4"/>
          <p:cNvSpPr/>
          <p:nvPr/>
        </p:nvSpPr>
        <p:spPr>
          <a:xfrm>
            <a:off x="548640" y="2697480"/>
            <a:ext cx="260604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Raw Records</a:t>
            </a:r>
            <a:endParaRPr lang="en-US" sz="1200" dirty="0"/>
          </a:p>
        </p:txBody>
      </p:sp>
      <p:sp>
        <p:nvSpPr>
          <p:cNvPr id="7" name="Shape 5"/>
          <p:cNvSpPr/>
          <p:nvPr/>
        </p:nvSpPr>
        <p:spPr>
          <a:xfrm>
            <a:off x="3337560" y="1965960"/>
            <a:ext cx="2606040" cy="1188720"/>
          </a:xfrm>
          <a:prstGeom prst="roundRect">
            <a:avLst>
              <a:gd name="adj" fmla="val 6154"/>
            </a:avLst>
          </a:prstGeom>
          <a:solidFill>
            <a:srgbClr val="1F2A44"/>
          </a:solidFill>
          <a:ln/>
        </p:spPr>
      </p:sp>
      <p:sp>
        <p:nvSpPr>
          <p:cNvPr id="8" name="Text 6"/>
          <p:cNvSpPr/>
          <p:nvPr/>
        </p:nvSpPr>
        <p:spPr>
          <a:xfrm>
            <a:off x="3337560" y="2075688"/>
            <a:ext cx="2606040" cy="594360"/>
          </a:xfrm>
          <a:prstGeom prst="rect">
            <a:avLst/>
          </a:prstGeom>
          <a:noFill/>
          <a:ln/>
        </p:spPr>
        <p:txBody>
          <a:bodyPr wrap="square" rtlCol="0" anchor="ctr"/>
          <a:lstStyle/>
          <a:p>
            <a:pPr marL="0" indent="0" algn="ctr">
              <a:buNone/>
            </a:pPr>
            <a:r>
              <a:rPr lang="en-US" sz="2600" b="1" dirty="0">
                <a:solidFill>
                  <a:srgbClr val="C9A227"/>
                </a:solidFill>
                <a:latin typeface="Calibri" pitchFamily="34" charset="0"/>
                <a:ea typeface="Calibri" pitchFamily="34" charset="-122"/>
                <a:cs typeface="Calibri" pitchFamily="34" charset="-120"/>
              </a:rPr>
              <a:t>21</a:t>
            </a:r>
            <a:endParaRPr lang="en-US" sz="2600" dirty="0"/>
          </a:p>
        </p:txBody>
      </p:sp>
      <p:sp>
        <p:nvSpPr>
          <p:cNvPr id="9" name="Text 7"/>
          <p:cNvSpPr/>
          <p:nvPr/>
        </p:nvSpPr>
        <p:spPr>
          <a:xfrm>
            <a:off x="3337560" y="2697480"/>
            <a:ext cx="260604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Columns</a:t>
            </a:r>
            <a:endParaRPr lang="en-US" sz="1200" dirty="0"/>
          </a:p>
        </p:txBody>
      </p:sp>
      <p:sp>
        <p:nvSpPr>
          <p:cNvPr id="10" name="Shape 8"/>
          <p:cNvSpPr/>
          <p:nvPr/>
        </p:nvSpPr>
        <p:spPr>
          <a:xfrm>
            <a:off x="6126480" y="1965960"/>
            <a:ext cx="2606040" cy="1188720"/>
          </a:xfrm>
          <a:prstGeom prst="roundRect">
            <a:avLst>
              <a:gd name="adj" fmla="val 6154"/>
            </a:avLst>
          </a:prstGeom>
          <a:solidFill>
            <a:srgbClr val="1F2A44"/>
          </a:solidFill>
          <a:ln/>
        </p:spPr>
      </p:sp>
      <p:sp>
        <p:nvSpPr>
          <p:cNvPr id="11" name="Text 9"/>
          <p:cNvSpPr/>
          <p:nvPr/>
        </p:nvSpPr>
        <p:spPr>
          <a:xfrm>
            <a:off x="6126480" y="2075688"/>
            <a:ext cx="2606040" cy="594360"/>
          </a:xfrm>
          <a:prstGeom prst="rect">
            <a:avLst/>
          </a:prstGeom>
          <a:noFill/>
          <a:ln/>
        </p:spPr>
        <p:txBody>
          <a:bodyPr wrap="square" rtlCol="0" anchor="ctr"/>
          <a:lstStyle/>
          <a:p>
            <a:pPr marL="0" indent="0" algn="ctr">
              <a:buNone/>
            </a:pPr>
            <a:r>
              <a:rPr lang="en-US" sz="2600" b="1" dirty="0">
                <a:solidFill>
                  <a:srgbClr val="C9A227"/>
                </a:solidFill>
                <a:latin typeface="Calibri" pitchFamily="34" charset="0"/>
                <a:ea typeface="Calibri" pitchFamily="34" charset="-122"/>
                <a:cs typeface="Calibri" pitchFamily="34" charset="-120"/>
              </a:rPr>
              <a:t>12</a:t>
            </a:r>
            <a:endParaRPr lang="en-US" sz="2600" dirty="0"/>
          </a:p>
        </p:txBody>
      </p:sp>
      <p:sp>
        <p:nvSpPr>
          <p:cNvPr id="12" name="Text 10"/>
          <p:cNvSpPr/>
          <p:nvPr/>
        </p:nvSpPr>
        <p:spPr>
          <a:xfrm>
            <a:off x="6126480" y="2697480"/>
            <a:ext cx="260604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Duplicates Removed</a:t>
            </a:r>
            <a:endParaRPr lang="en-US" sz="1200" dirty="0"/>
          </a:p>
        </p:txBody>
      </p:sp>
      <p:sp>
        <p:nvSpPr>
          <p:cNvPr id="13" name="Shape 11"/>
          <p:cNvSpPr/>
          <p:nvPr/>
        </p:nvSpPr>
        <p:spPr>
          <a:xfrm>
            <a:off x="8915400" y="1965960"/>
            <a:ext cx="2606040" cy="1188720"/>
          </a:xfrm>
          <a:prstGeom prst="roundRect">
            <a:avLst>
              <a:gd name="adj" fmla="val 6154"/>
            </a:avLst>
          </a:prstGeom>
          <a:solidFill>
            <a:srgbClr val="1F2A44"/>
          </a:solidFill>
          <a:ln/>
        </p:spPr>
      </p:sp>
      <p:sp>
        <p:nvSpPr>
          <p:cNvPr id="14" name="Text 12"/>
          <p:cNvSpPr/>
          <p:nvPr/>
        </p:nvSpPr>
        <p:spPr>
          <a:xfrm>
            <a:off x="8915400" y="2075688"/>
            <a:ext cx="2606040" cy="594360"/>
          </a:xfrm>
          <a:prstGeom prst="rect">
            <a:avLst/>
          </a:prstGeom>
          <a:noFill/>
          <a:ln/>
        </p:spPr>
        <p:txBody>
          <a:bodyPr wrap="square" rtlCol="0" anchor="ctr"/>
          <a:lstStyle/>
          <a:p>
            <a:pPr marL="0" indent="0" algn="ctr">
              <a:buNone/>
            </a:pPr>
            <a:r>
              <a:rPr lang="en-US" sz="2600" b="1" dirty="0">
                <a:solidFill>
                  <a:srgbClr val="C9A227"/>
                </a:solidFill>
                <a:latin typeface="Calibri" pitchFamily="34" charset="0"/>
                <a:ea typeface="Calibri" pitchFamily="34" charset="-122"/>
                <a:cs typeface="Calibri" pitchFamily="34" charset="-120"/>
              </a:rPr>
              <a:t>11.3%</a:t>
            </a:r>
            <a:endParaRPr lang="en-US" sz="2600" dirty="0"/>
          </a:p>
        </p:txBody>
      </p:sp>
      <p:sp>
        <p:nvSpPr>
          <p:cNvPr id="15" name="Text 13"/>
          <p:cNvSpPr/>
          <p:nvPr/>
        </p:nvSpPr>
        <p:spPr>
          <a:xfrm>
            <a:off x="8915400" y="2697480"/>
            <a:ext cx="260604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Subscription Rate</a:t>
            </a:r>
            <a:endParaRPr lang="en-US" sz="1200" dirty="0"/>
          </a:p>
        </p:txBody>
      </p:sp>
      <p:sp>
        <p:nvSpPr>
          <p:cNvPr id="16" name="Text 14"/>
          <p:cNvSpPr/>
          <p:nvPr/>
        </p:nvSpPr>
        <p:spPr>
          <a:xfrm>
            <a:off x="548640" y="3429000"/>
            <a:ext cx="4572000" cy="365760"/>
          </a:xfrm>
          <a:prstGeom prst="rect">
            <a:avLst/>
          </a:prstGeom>
          <a:noFill/>
          <a:ln/>
        </p:spPr>
        <p:txBody>
          <a:bodyPr wrap="square" rtlCol="0" anchor="ctr"/>
          <a:lstStyle/>
          <a:p>
            <a:pPr marL="0" indent="0">
              <a:buNone/>
            </a:pPr>
            <a:r>
              <a:rPr lang="en-US" sz="1500" b="1" dirty="0">
                <a:solidFill>
                  <a:srgbClr val="1F2A44"/>
                </a:solidFill>
                <a:latin typeface="Calibri" pitchFamily="34" charset="0"/>
                <a:ea typeface="Calibri" pitchFamily="34" charset="-122"/>
                <a:cs typeface="Calibri" pitchFamily="34" charset="-120"/>
              </a:rPr>
              <a:t>Key Columns</a:t>
            </a:r>
            <a:endParaRPr lang="en-US" sz="1500" dirty="0"/>
          </a:p>
        </p:txBody>
      </p:sp>
      <p:sp>
        <p:nvSpPr>
          <p:cNvPr id="17" name="Text 15"/>
          <p:cNvSpPr/>
          <p:nvPr/>
        </p:nvSpPr>
        <p:spPr>
          <a:xfrm>
            <a:off x="548640" y="3840480"/>
            <a:ext cx="5760720" cy="2286000"/>
          </a:xfrm>
          <a:prstGeom prst="rect">
            <a:avLst/>
          </a:prstGeom>
          <a:noFill/>
          <a:ln/>
        </p:spPr>
        <p:txBody>
          <a:bodyPr wrap="square" rtlCol="0" anchor="t"/>
          <a:lstStyle/>
          <a:p>
            <a:pPr marL="228600" indent="-228600">
              <a:lnSpc>
                <a:spcPct val="115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Demographics: age, job, marital, education</a:t>
            </a:r>
            <a:endParaRPr lang="en-US" sz="1350" dirty="0"/>
          </a:p>
          <a:p>
            <a:pPr marL="228600" indent="-228600">
              <a:lnSpc>
                <a:spcPct val="115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Financial: default, housing, loan</a:t>
            </a:r>
            <a:endParaRPr lang="en-US" sz="1350" dirty="0"/>
          </a:p>
          <a:p>
            <a:pPr marL="228600" indent="-228600">
              <a:lnSpc>
                <a:spcPct val="115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Campaign: contact, month, day_of_week, duration, campaign</a:t>
            </a:r>
            <a:endParaRPr lang="en-US" sz="1350" dirty="0"/>
          </a:p>
          <a:p>
            <a:pPr marL="228600" indent="-228600">
              <a:lnSpc>
                <a:spcPct val="115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Macro-economic: emp.var.rate, cons.price.idx, euribor3m, nr.employed</a:t>
            </a:r>
            <a:endParaRPr lang="en-US" sz="1350" dirty="0"/>
          </a:p>
          <a:p>
            <a:pPr marL="228600" indent="-228600">
              <a:lnSpc>
                <a:spcPct val="1150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Target: y — subscribed to a term deposit? (yes/no)</a:t>
            </a:r>
            <a:endParaRPr lang="en-US" sz="1350" dirty="0"/>
          </a:p>
        </p:txBody>
      </p:sp>
      <p:pic>
        <p:nvPicPr>
          <p:cNvPr id="18" name="Image 0" descr="nb_images/cell_14.png"/>
          <p:cNvPicPr>
            <a:picLocks noChangeAspect="1"/>
          </p:cNvPicPr>
          <p:nvPr/>
        </p:nvPicPr>
        <p:blipFill>
          <a:blip r:embed="rId3"/>
          <a:stretch>
            <a:fillRect/>
          </a:stretch>
        </p:blipFill>
        <p:spPr>
          <a:xfrm>
            <a:off x="7954654" y="3520440"/>
            <a:ext cx="3685658" cy="2834640"/>
          </a:xfrm>
          <a:prstGeom prst="rect">
            <a:avLst/>
          </a:prstGeom>
        </p:spPr>
      </p:pic>
      <p:sp>
        <p:nvSpPr>
          <p:cNvPr id="19" name="Text 16"/>
          <p:cNvSpPr/>
          <p:nvPr/>
        </p:nvSpPr>
        <p:spPr>
          <a:xfrm>
            <a:off x="7954654" y="6400800"/>
            <a:ext cx="3685658" cy="274320"/>
          </a:xfrm>
          <a:prstGeom prst="rect">
            <a:avLst/>
          </a:prstGeom>
          <a:noFill/>
          <a:ln/>
        </p:spPr>
        <p:txBody>
          <a:bodyPr wrap="square" rtlCol="0" anchor="ctr"/>
          <a:lstStyle/>
          <a:p>
            <a:pPr marL="0" indent="0" algn="ctr">
              <a:buNone/>
            </a:pPr>
            <a:r>
              <a:rPr lang="en-US" sz="1000" i="1" dirty="0">
                <a:solidFill>
                  <a:srgbClr val="555555"/>
                </a:solidFill>
              </a:rPr>
              <a:t>Figure: Subscription (y) class distribution — highly imbalanced</a:t>
            </a:r>
            <a:endParaRPr lang="en-US" sz="1000" dirty="0"/>
          </a:p>
        </p:txBody>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METHODOLOGY</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Python Workflow</a:t>
            </a:r>
            <a:endParaRPr lang="en-US" sz="3000" dirty="0"/>
          </a:p>
        </p:txBody>
      </p:sp>
      <p:sp>
        <p:nvSpPr>
          <p:cNvPr id="4" name="Text 2"/>
          <p:cNvSpPr/>
          <p:nvPr/>
        </p:nvSpPr>
        <p:spPr>
          <a:xfrm>
            <a:off x="548640" y="1920240"/>
            <a:ext cx="5394960" cy="4206240"/>
          </a:xfrm>
          <a:prstGeom prst="rect">
            <a:avLst/>
          </a:prstGeom>
          <a:noFill/>
          <a:ln/>
        </p:spPr>
        <p:txBody>
          <a:bodyPr wrap="square" rtlCol="0" anchor="t"/>
          <a:lstStyle/>
          <a:p>
            <a:pPr marL="228600" indent="-228600">
              <a:lnSpc>
                <a:spcPct val="115000"/>
              </a:lnSpc>
              <a:spcAft>
                <a:spcPts val="1400"/>
              </a:spcAft>
              <a:buSzPct val="100000"/>
              <a:buChar char="•"/>
            </a:pPr>
            <a:r>
              <a:rPr lang="en-US" sz="1500" dirty="0">
                <a:solidFill>
                  <a:srgbClr val="222222"/>
                </a:solidFill>
                <a:latin typeface="Calibri" pitchFamily="34" charset="0"/>
                <a:ea typeface="Calibri" pitchFamily="34" charset="-122"/>
                <a:cs typeface="Calibri" pitchFamily="34" charset="-120"/>
              </a:rPr>
              <a:t>Loaded &amp; profiled data with pandas (shape, dtypes, nulls)</a:t>
            </a:r>
            <a:endParaRPr lang="en-US" sz="1500" dirty="0"/>
          </a:p>
          <a:p>
            <a:pPr marL="228600" indent="-228600">
              <a:lnSpc>
                <a:spcPct val="115000"/>
              </a:lnSpc>
              <a:spcAft>
                <a:spcPts val="1400"/>
              </a:spcAft>
              <a:buSzPct val="100000"/>
              <a:buChar char="•"/>
            </a:pPr>
            <a:r>
              <a:rPr lang="en-US" sz="1500" dirty="0">
                <a:solidFill>
                  <a:srgbClr val="222222"/>
                </a:solidFill>
                <a:latin typeface="Calibri" pitchFamily="34" charset="0"/>
                <a:ea typeface="Calibri" pitchFamily="34" charset="-122"/>
                <a:cs typeface="Calibri" pitchFamily="34" charset="-120"/>
              </a:rPr>
              <a:t>Removed 12 duplicate rows (41,188 → 41,176)</a:t>
            </a:r>
            <a:endParaRPr lang="en-US" sz="1500" dirty="0"/>
          </a:p>
          <a:p>
            <a:pPr marL="228600" indent="-228600">
              <a:lnSpc>
                <a:spcPct val="115000"/>
              </a:lnSpc>
              <a:spcAft>
                <a:spcPts val="1400"/>
              </a:spcAft>
              <a:buSzPct val="100000"/>
              <a:buChar char="•"/>
            </a:pPr>
            <a:r>
              <a:rPr lang="en-US" sz="1500" dirty="0">
                <a:solidFill>
                  <a:srgbClr val="222222"/>
                </a:solidFill>
                <a:latin typeface="Calibri" pitchFamily="34" charset="0"/>
                <a:ea typeface="Calibri" pitchFamily="34" charset="-122"/>
                <a:cs typeface="Calibri" pitchFamily="34" charset="-120"/>
              </a:rPr>
              <a:t>Explored patterns via 9 seaborn/matplotlib charts</a:t>
            </a:r>
            <a:endParaRPr lang="en-US" sz="1500" dirty="0"/>
          </a:p>
          <a:p>
            <a:pPr marL="228600" indent="-228600">
              <a:lnSpc>
                <a:spcPct val="115000"/>
              </a:lnSpc>
              <a:spcAft>
                <a:spcPts val="1400"/>
              </a:spcAft>
              <a:buSzPct val="100000"/>
              <a:buChar char="•"/>
            </a:pPr>
            <a:r>
              <a:rPr lang="en-US" sz="1500" dirty="0">
                <a:solidFill>
                  <a:srgbClr val="222222"/>
                </a:solidFill>
                <a:latin typeface="Calibri" pitchFamily="34" charset="0"/>
                <a:ea typeface="Calibri" pitchFamily="34" charset="-122"/>
                <a:cs typeface="Calibri" pitchFamily="34" charset="-120"/>
              </a:rPr>
              <a:t>One-hot encoded categorical fields (20 → 53 features)</a:t>
            </a:r>
            <a:endParaRPr lang="en-US" sz="1500" dirty="0"/>
          </a:p>
          <a:p>
            <a:pPr marL="228600" indent="-228600">
              <a:lnSpc>
                <a:spcPct val="115000"/>
              </a:lnSpc>
              <a:spcAft>
                <a:spcPts val="1400"/>
              </a:spcAft>
              <a:buSzPct val="100000"/>
              <a:buChar char="•"/>
            </a:pPr>
            <a:r>
              <a:rPr lang="en-US" sz="1500" dirty="0">
                <a:solidFill>
                  <a:srgbClr val="222222"/>
                </a:solidFill>
                <a:latin typeface="Calibri" pitchFamily="34" charset="0"/>
                <a:ea typeface="Calibri" pitchFamily="34" charset="-122"/>
                <a:cs typeface="Calibri" pitchFamily="34" charset="-120"/>
              </a:rPr>
              <a:t>Trained a Logistic Regression baseline classifier</a:t>
            </a:r>
            <a:endParaRPr lang="en-US" sz="1500" dirty="0"/>
          </a:p>
          <a:p>
            <a:pPr marL="228600" indent="-228600">
              <a:lnSpc>
                <a:spcPct val="115000"/>
              </a:lnSpc>
              <a:spcAft>
                <a:spcPts val="1400"/>
              </a:spcAft>
              <a:buSzPct val="100000"/>
              <a:buChar char="•"/>
            </a:pPr>
            <a:r>
              <a:rPr lang="en-US" sz="1500" dirty="0">
                <a:solidFill>
                  <a:srgbClr val="222222"/>
                </a:solidFill>
                <a:latin typeface="Calibri" pitchFamily="34" charset="0"/>
                <a:ea typeface="Calibri" pitchFamily="34" charset="-122"/>
                <a:cs typeface="Calibri" pitchFamily="34" charset="-120"/>
              </a:rPr>
              <a:t>80/20 train-test split, random_state = 42</a:t>
            </a:r>
            <a:endParaRPr lang="en-US" sz="1500" dirty="0"/>
          </a:p>
        </p:txBody>
      </p:sp>
      <p:pic>
        <p:nvPicPr>
          <p:cNvPr id="5" name="Image 0" descr="nb_images/cell_16.png"/>
          <p:cNvPicPr>
            <a:picLocks noChangeAspect="1"/>
          </p:cNvPicPr>
          <p:nvPr/>
        </p:nvPicPr>
        <p:blipFill>
          <a:blip r:embed="rId3"/>
          <a:stretch>
            <a:fillRect/>
          </a:stretch>
        </p:blipFill>
        <p:spPr>
          <a:xfrm>
            <a:off x="5696712" y="1965960"/>
            <a:ext cx="5943600" cy="3575538"/>
          </a:xfrm>
          <a:prstGeom prst="rect">
            <a:avLst/>
          </a:prstGeom>
        </p:spPr>
      </p:pic>
      <p:sp>
        <p:nvSpPr>
          <p:cNvPr id="6" name="Text 3"/>
          <p:cNvSpPr/>
          <p:nvPr/>
        </p:nvSpPr>
        <p:spPr>
          <a:xfrm>
            <a:off x="5696712" y="5587218"/>
            <a:ext cx="5943600" cy="274320"/>
          </a:xfrm>
          <a:prstGeom prst="rect">
            <a:avLst/>
          </a:prstGeom>
          <a:noFill/>
          <a:ln/>
        </p:spPr>
        <p:txBody>
          <a:bodyPr wrap="square" rtlCol="0" anchor="ctr"/>
          <a:lstStyle/>
          <a:p>
            <a:pPr marL="0" indent="0" algn="ctr">
              <a:buNone/>
            </a:pPr>
            <a:r>
              <a:rPr lang="en-US" sz="1050" i="1" dirty="0">
                <a:solidFill>
                  <a:srgbClr val="555555"/>
                </a:solidFill>
              </a:rPr>
              <a:t>Figure: Job type vs. subscription outcome</a:t>
            </a:r>
            <a:endParaRPr lang="en-US" sz="1050" dirty="0"/>
          </a:p>
        </p:txBody>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METHODOLOGY</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SQL Analysis</a:t>
            </a:r>
            <a:endParaRPr lang="en-US" sz="3000" dirty="0"/>
          </a:p>
        </p:txBody>
      </p:sp>
      <p:sp>
        <p:nvSpPr>
          <p:cNvPr id="4" name="Text 2"/>
          <p:cNvSpPr/>
          <p:nvPr/>
        </p:nvSpPr>
        <p:spPr>
          <a:xfrm>
            <a:off x="548640" y="1874520"/>
            <a:ext cx="11064240" cy="640080"/>
          </a:xfrm>
          <a:prstGeom prst="rect">
            <a:avLst/>
          </a:prstGeom>
          <a:noFill/>
          <a:ln/>
        </p:spPr>
        <p:txBody>
          <a:bodyPr wrap="square" rtlCol="0" anchor="ctr"/>
          <a:lstStyle/>
          <a:p>
            <a:pPr marL="0" indent="0">
              <a:buNone/>
            </a:pPr>
            <a:r>
              <a:rPr lang="en-US" sz="1400" dirty="0">
                <a:solidFill>
                  <a:srgbClr val="555555"/>
                </a:solidFill>
                <a:latin typeface="Calibri" pitchFamily="34" charset="0"/>
                <a:ea typeface="Calibri" pitchFamily="34" charset="-122"/>
                <a:cs typeface="Calibri" pitchFamily="34" charset="-120"/>
              </a:rPr>
              <a:t>8 queries against dbo.bankadditionalfull covering counts, grouping, filtering,</a:t>
            </a:r>
            <a:endParaRPr lang="en-US" sz="1400" dirty="0"/>
          </a:p>
          <a:p>
            <a:pPr marL="0" indent="0">
              <a:buNone/>
            </a:pPr>
            <a:r>
              <a:rPr lang="en-US" sz="1400" dirty="0">
                <a:solidFill>
                  <a:srgbClr val="555555"/>
                </a:solidFill>
                <a:latin typeface="Calibri" pitchFamily="34" charset="0"/>
                <a:ea typeface="Calibri" pitchFamily="34" charset="-122"/>
                <a:cs typeface="Calibri" pitchFamily="34" charset="-120"/>
              </a:rPr>
              <a:t>HAVING, CASE-based segmentation, and ranked (TOP N) selection.</a:t>
            </a:r>
            <a:endParaRPr lang="en-US" sz="1400" dirty="0"/>
          </a:p>
        </p:txBody>
      </p:sp>
      <p:sp>
        <p:nvSpPr>
          <p:cNvPr id="5" name="Shape 3"/>
          <p:cNvSpPr/>
          <p:nvPr/>
        </p:nvSpPr>
        <p:spPr>
          <a:xfrm>
            <a:off x="548640" y="2560320"/>
            <a:ext cx="5577840" cy="3566160"/>
          </a:xfrm>
          <a:prstGeom prst="roundRect">
            <a:avLst>
              <a:gd name="adj" fmla="val 1538"/>
            </a:avLst>
          </a:prstGeom>
          <a:solidFill>
            <a:srgbClr val="1E1E2E"/>
          </a:solidFill>
          <a:ln/>
        </p:spPr>
      </p:sp>
      <p:sp>
        <p:nvSpPr>
          <p:cNvPr id="6" name="Text 4"/>
          <p:cNvSpPr/>
          <p:nvPr/>
        </p:nvSpPr>
        <p:spPr>
          <a:xfrm>
            <a:off x="777240" y="2743200"/>
            <a:ext cx="5120640" cy="1737360"/>
          </a:xfrm>
          <a:prstGeom prst="rect">
            <a:avLst/>
          </a:prstGeom>
          <a:noFill/>
          <a:ln/>
        </p:spPr>
        <p:txBody>
          <a:bodyPr wrap="square" rtlCol="0" anchor="ctr"/>
          <a:lstStyle/>
          <a:p>
            <a:pPr marL="0" indent="0">
              <a:buNone/>
            </a:pPr>
            <a:r>
              <a:rPr lang="en-US" sz="1250" dirty="0">
                <a:solidFill>
                  <a:srgbClr val="D4D4D4"/>
                </a:solidFill>
                <a:latin typeface="Consolas" pitchFamily="34" charset="0"/>
                <a:ea typeface="Consolas" pitchFamily="34" charset="-122"/>
                <a:cs typeface="Consolas" pitchFamily="34" charset="-120"/>
              </a:rPr>
              <a:t>SELECT TOP 5</a:t>
            </a:r>
            <a:endParaRPr lang="en-US" sz="1250" dirty="0"/>
          </a:p>
          <a:p>
            <a:pPr marL="0" indent="0">
              <a:buNone/>
            </a:pPr>
            <a:r>
              <a:rPr lang="en-US" sz="1250" dirty="0">
                <a:solidFill>
                  <a:srgbClr val="D4D4D4"/>
                </a:solidFill>
                <a:latin typeface="Consolas" pitchFamily="34" charset="0"/>
                <a:ea typeface="Consolas" pitchFamily="34" charset="-122"/>
                <a:cs typeface="Consolas" pitchFamily="34" charset="-120"/>
              </a:rPr>
              <a:t>       job,</a:t>
            </a:r>
            <a:endParaRPr lang="en-US" sz="1250" dirty="0"/>
          </a:p>
          <a:p>
            <a:pPr marL="0" indent="0">
              <a:buNone/>
            </a:pPr>
            <a:r>
              <a:rPr lang="en-US" sz="1250" dirty="0">
                <a:solidFill>
                  <a:srgbClr val="D4D4D4"/>
                </a:solidFill>
                <a:latin typeface="Consolas" pitchFamily="34" charset="0"/>
                <a:ea typeface="Consolas" pitchFamily="34" charset="-122"/>
                <a:cs typeface="Consolas" pitchFamily="34" charset="-120"/>
              </a:rPr>
              <a:t>       COUNT(*) AS Subscribed_Customers</a:t>
            </a:r>
            <a:endParaRPr lang="en-US" sz="1250" dirty="0"/>
          </a:p>
          <a:p>
            <a:pPr marL="0" indent="0">
              <a:buNone/>
            </a:pPr>
            <a:r>
              <a:rPr lang="en-US" sz="1250" dirty="0">
                <a:solidFill>
                  <a:srgbClr val="D4D4D4"/>
                </a:solidFill>
                <a:latin typeface="Consolas" pitchFamily="34" charset="0"/>
                <a:ea typeface="Consolas" pitchFamily="34" charset="-122"/>
                <a:cs typeface="Consolas" pitchFamily="34" charset="-120"/>
              </a:rPr>
              <a:t>FROM dbo.bankadditionalfull</a:t>
            </a:r>
            <a:endParaRPr lang="en-US" sz="1250" dirty="0"/>
          </a:p>
          <a:p>
            <a:pPr marL="0" indent="0">
              <a:buNone/>
            </a:pPr>
            <a:r>
              <a:rPr lang="en-US" sz="1250" dirty="0">
                <a:solidFill>
                  <a:srgbClr val="D4D4D4"/>
                </a:solidFill>
                <a:latin typeface="Consolas" pitchFamily="34" charset="0"/>
                <a:ea typeface="Consolas" pitchFamily="34" charset="-122"/>
                <a:cs typeface="Consolas" pitchFamily="34" charset="-120"/>
              </a:rPr>
              <a:t>WHERE y = 1</a:t>
            </a:r>
            <a:endParaRPr lang="en-US" sz="1250" dirty="0"/>
          </a:p>
          <a:p>
            <a:pPr marL="0" indent="0">
              <a:buNone/>
            </a:pPr>
            <a:r>
              <a:rPr lang="en-US" sz="1250" dirty="0">
                <a:solidFill>
                  <a:srgbClr val="D4D4D4"/>
                </a:solidFill>
                <a:latin typeface="Consolas" pitchFamily="34" charset="0"/>
                <a:ea typeface="Consolas" pitchFamily="34" charset="-122"/>
                <a:cs typeface="Consolas" pitchFamily="34" charset="-120"/>
              </a:rPr>
              <a:t>GROUP BY job</a:t>
            </a:r>
            <a:endParaRPr lang="en-US" sz="1250" dirty="0"/>
          </a:p>
          <a:p>
            <a:pPr marL="0" indent="0">
              <a:buNone/>
            </a:pPr>
            <a:r>
              <a:rPr lang="en-US" sz="1250" dirty="0">
                <a:solidFill>
                  <a:srgbClr val="D4D4D4"/>
                </a:solidFill>
                <a:latin typeface="Consolas" pitchFamily="34" charset="0"/>
                <a:ea typeface="Consolas" pitchFamily="34" charset="-122"/>
                <a:cs typeface="Consolas" pitchFamily="34" charset="-120"/>
              </a:rPr>
              <a:t>ORDER BY Subscribed_Customers DESC;</a:t>
            </a:r>
            <a:endParaRPr lang="en-US" sz="1250" dirty="0"/>
          </a:p>
        </p:txBody>
      </p:sp>
      <p:sp>
        <p:nvSpPr>
          <p:cNvPr id="7" name="Text 5"/>
          <p:cNvSpPr/>
          <p:nvPr/>
        </p:nvSpPr>
        <p:spPr>
          <a:xfrm>
            <a:off x="777240" y="4526280"/>
            <a:ext cx="5120640" cy="274320"/>
          </a:xfrm>
          <a:prstGeom prst="rect">
            <a:avLst/>
          </a:prstGeom>
          <a:noFill/>
          <a:ln/>
        </p:spPr>
        <p:txBody>
          <a:bodyPr wrap="square" rtlCol="0" anchor="ctr"/>
          <a:lstStyle/>
          <a:p>
            <a:pPr marL="0" indent="0">
              <a:buNone/>
            </a:pPr>
            <a:r>
              <a:rPr lang="en-US" sz="1100" i="1" dirty="0">
                <a:solidFill>
                  <a:srgbClr val="AAB2C0"/>
                </a:solidFill>
              </a:rPr>
              <a:t>Top 5 Job Categories by Subscribed Customers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92240" y="2560320"/>
          <a:ext cx="512064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84048">
                <a:tc>
                  <a:txBody>
                    <a:bodyPr/>
                    <a:lstStyle/>
                    <a:p>
                      <a:pPr marL="0" indent="0">
                        <a:buNone/>
                      </a:pPr>
                      <a:r>
                        <a:rPr lang="en-US" sz="1200" b="1" dirty="0">
                          <a:solidFill>
                            <a:srgbClr val="FFFFFF"/>
                          </a:solidFill>
                        </a:rPr>
                        <a:t>Job</a:t>
                      </a:r>
                      <a:endParaRPr lang="en-US" sz="12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Subscribed</a:t>
                      </a:r>
                      <a:endParaRPr lang="en-US" sz="12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000000"/>
                          </a:solidFill>
                        </a:rPr>
                        <a:t>admin.</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1,352</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000000"/>
                          </a:solidFill>
                        </a:rPr>
                        <a:t>technician</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730</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000000"/>
                          </a:solidFill>
                        </a:rPr>
                        <a:t>blue-collar</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638</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rgbClr val="000000"/>
                          </a:solidFill>
                        </a:rPr>
                        <a:t>retired</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434</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00" dirty="0">
                          <a:solidFill>
                            <a:srgbClr val="000000"/>
                          </a:solidFill>
                        </a:rPr>
                        <a:t>management</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328</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6492240" y="5074920"/>
            <a:ext cx="5120640" cy="1051560"/>
          </a:xfrm>
          <a:prstGeom prst="roundRect">
            <a:avLst/>
          </a:prstGeom>
          <a:solidFill>
            <a:srgbClr val="F4F6F9"/>
          </a:solidFill>
          <a:ln w="12700">
            <a:solidFill>
              <a:srgbClr val="C9A227"/>
            </a:solidFill>
            <a:prstDash val="solid"/>
          </a:ln>
        </p:spPr>
      </p:sp>
      <p:sp>
        <p:nvSpPr>
          <p:cNvPr id="10" name="Text 7"/>
          <p:cNvSpPr/>
          <p:nvPr/>
        </p:nvSpPr>
        <p:spPr>
          <a:xfrm>
            <a:off x="6675120" y="5212080"/>
            <a:ext cx="4754880" cy="777240"/>
          </a:xfrm>
          <a:prstGeom prst="rect">
            <a:avLst/>
          </a:prstGeom>
          <a:noFill/>
          <a:ln/>
        </p:spPr>
        <p:txBody>
          <a:bodyPr wrap="square" rtlCol="0" anchor="ctr"/>
          <a:lstStyle/>
          <a:p>
            <a:pPr marL="0" indent="0">
              <a:buNone/>
            </a:pPr>
            <a:r>
              <a:rPr lang="en-US" sz="1300" b="1" dirty="0">
                <a:solidFill>
                  <a:srgbClr val="222222"/>
                </a:solidFill>
                <a:latin typeface="Calibri" pitchFamily="34" charset="0"/>
                <a:ea typeface="Calibri" pitchFamily="34" charset="-122"/>
                <a:cs typeface="Calibri" pitchFamily="34" charset="-120"/>
              </a:rPr>
              <a:t>Overall conversion: </a:t>
            </a:r>
            <a:r>
              <a:rPr lang="en-US" sz="1300" b="1" dirty="0">
                <a:solidFill>
                  <a:srgbClr val="1F2A44"/>
                </a:solidFill>
                <a:latin typeface="Calibri" pitchFamily="34" charset="0"/>
                <a:ea typeface="Calibri" pitchFamily="34" charset="-122"/>
                <a:cs typeface="Calibri" pitchFamily="34" charset="-120"/>
              </a:rPr>
              <a:t>36,548 "no"  vs.  4,640 "yes"  (11.3%)</a:t>
            </a:r>
            <a:endParaRPr lang="en-US" sz="1300" dirty="0"/>
          </a:p>
        </p:txBody>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METHODOLOGY</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Power BI Dashboard</a:t>
            </a:r>
            <a:endParaRPr lang="en-US" sz="3000" dirty="0"/>
          </a:p>
        </p:txBody>
      </p:sp>
      <p:sp>
        <p:nvSpPr>
          <p:cNvPr id="4" name="Shape 2"/>
          <p:cNvSpPr/>
          <p:nvPr/>
        </p:nvSpPr>
        <p:spPr>
          <a:xfrm>
            <a:off x="548640" y="1874520"/>
            <a:ext cx="3520440" cy="914400"/>
          </a:xfrm>
          <a:prstGeom prst="roundRect">
            <a:avLst>
              <a:gd name="adj" fmla="val 8000"/>
            </a:avLst>
          </a:prstGeom>
          <a:solidFill>
            <a:srgbClr val="1F2A44"/>
          </a:solidFill>
          <a:ln/>
        </p:spPr>
      </p:sp>
      <p:sp>
        <p:nvSpPr>
          <p:cNvPr id="5" name="Text 3"/>
          <p:cNvSpPr/>
          <p:nvPr/>
        </p:nvSpPr>
        <p:spPr>
          <a:xfrm>
            <a:off x="685800" y="1947672"/>
            <a:ext cx="3246120" cy="502920"/>
          </a:xfrm>
          <a:prstGeom prst="rect">
            <a:avLst/>
          </a:prstGeom>
          <a:noFill/>
          <a:ln/>
        </p:spPr>
        <p:txBody>
          <a:bodyPr wrap="square" rtlCol="0" anchor="ctr"/>
          <a:lstStyle/>
          <a:p>
            <a:pPr marL="0" indent="0">
              <a:buNone/>
            </a:pPr>
            <a:r>
              <a:rPr lang="en-US" sz="2200" b="1" dirty="0">
                <a:solidFill>
                  <a:srgbClr val="C9A227"/>
                </a:solidFill>
                <a:latin typeface="Calibri" pitchFamily="34" charset="0"/>
                <a:ea typeface="Calibri" pitchFamily="34" charset="-122"/>
                <a:cs typeface="Calibri" pitchFamily="34" charset="-120"/>
              </a:rPr>
              <a:t>41,188</a:t>
            </a:r>
            <a:endParaRPr lang="en-US" sz="2200" dirty="0"/>
          </a:p>
        </p:txBody>
      </p:sp>
      <p:sp>
        <p:nvSpPr>
          <p:cNvPr id="6" name="Text 4"/>
          <p:cNvSpPr/>
          <p:nvPr/>
        </p:nvSpPr>
        <p:spPr>
          <a:xfrm>
            <a:off x="685800" y="2450592"/>
            <a:ext cx="3246120" cy="27432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Total Customers</a:t>
            </a:r>
            <a:endParaRPr lang="en-US" sz="1150" dirty="0"/>
          </a:p>
        </p:txBody>
      </p:sp>
      <p:sp>
        <p:nvSpPr>
          <p:cNvPr id="7" name="Shape 5"/>
          <p:cNvSpPr/>
          <p:nvPr/>
        </p:nvSpPr>
        <p:spPr>
          <a:xfrm>
            <a:off x="4297680" y="1874520"/>
            <a:ext cx="3520440" cy="914400"/>
          </a:xfrm>
          <a:prstGeom prst="roundRect">
            <a:avLst>
              <a:gd name="adj" fmla="val 8000"/>
            </a:avLst>
          </a:prstGeom>
          <a:solidFill>
            <a:srgbClr val="1F2A44"/>
          </a:solidFill>
          <a:ln/>
        </p:spPr>
      </p:sp>
      <p:sp>
        <p:nvSpPr>
          <p:cNvPr id="8" name="Text 6"/>
          <p:cNvSpPr/>
          <p:nvPr/>
        </p:nvSpPr>
        <p:spPr>
          <a:xfrm>
            <a:off x="4434840" y="1947672"/>
            <a:ext cx="3246120" cy="502920"/>
          </a:xfrm>
          <a:prstGeom prst="rect">
            <a:avLst/>
          </a:prstGeom>
          <a:noFill/>
          <a:ln/>
        </p:spPr>
        <p:txBody>
          <a:bodyPr wrap="square" rtlCol="0" anchor="ctr"/>
          <a:lstStyle/>
          <a:p>
            <a:pPr marL="0" indent="0">
              <a:buNone/>
            </a:pPr>
            <a:r>
              <a:rPr lang="en-US" sz="2200" b="1" dirty="0">
                <a:solidFill>
                  <a:srgbClr val="C9A227"/>
                </a:solidFill>
                <a:latin typeface="Calibri" pitchFamily="34" charset="0"/>
                <a:ea typeface="Calibri" pitchFamily="34" charset="-122"/>
                <a:cs typeface="Calibri" pitchFamily="34" charset="-120"/>
              </a:rPr>
              <a:t>4,640</a:t>
            </a:r>
            <a:endParaRPr lang="en-US" sz="2200" dirty="0"/>
          </a:p>
        </p:txBody>
      </p:sp>
      <p:sp>
        <p:nvSpPr>
          <p:cNvPr id="9" name="Text 7"/>
          <p:cNvSpPr/>
          <p:nvPr/>
        </p:nvSpPr>
        <p:spPr>
          <a:xfrm>
            <a:off x="4434840" y="2450592"/>
            <a:ext cx="3246120" cy="27432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Subscribed Customers</a:t>
            </a:r>
            <a:endParaRPr lang="en-US" sz="1150" dirty="0"/>
          </a:p>
        </p:txBody>
      </p:sp>
      <p:sp>
        <p:nvSpPr>
          <p:cNvPr id="10" name="Shape 8"/>
          <p:cNvSpPr/>
          <p:nvPr/>
        </p:nvSpPr>
        <p:spPr>
          <a:xfrm>
            <a:off x="8046720" y="1874520"/>
            <a:ext cx="3520440" cy="914400"/>
          </a:xfrm>
          <a:prstGeom prst="roundRect">
            <a:avLst>
              <a:gd name="adj" fmla="val 8000"/>
            </a:avLst>
          </a:prstGeom>
          <a:solidFill>
            <a:srgbClr val="1F2A44"/>
          </a:solidFill>
          <a:ln/>
        </p:spPr>
      </p:sp>
      <p:sp>
        <p:nvSpPr>
          <p:cNvPr id="11" name="Text 9"/>
          <p:cNvSpPr/>
          <p:nvPr/>
        </p:nvSpPr>
        <p:spPr>
          <a:xfrm>
            <a:off x="8183880" y="1947672"/>
            <a:ext cx="3246120" cy="502920"/>
          </a:xfrm>
          <a:prstGeom prst="rect">
            <a:avLst/>
          </a:prstGeom>
          <a:noFill/>
          <a:ln/>
        </p:spPr>
        <p:txBody>
          <a:bodyPr wrap="square" rtlCol="0" anchor="ctr"/>
          <a:lstStyle/>
          <a:p>
            <a:pPr marL="0" indent="0">
              <a:buNone/>
            </a:pPr>
            <a:r>
              <a:rPr lang="en-US" sz="2200" b="1" dirty="0">
                <a:solidFill>
                  <a:srgbClr val="C9A227"/>
                </a:solidFill>
                <a:latin typeface="Calibri" pitchFamily="34" charset="0"/>
                <a:ea typeface="Calibri" pitchFamily="34" charset="-122"/>
                <a:cs typeface="Calibri" pitchFamily="34" charset="-120"/>
              </a:rPr>
              <a:t>11.3%</a:t>
            </a:r>
            <a:endParaRPr lang="en-US" sz="2200" dirty="0"/>
          </a:p>
        </p:txBody>
      </p:sp>
      <p:sp>
        <p:nvSpPr>
          <p:cNvPr id="12" name="Text 10"/>
          <p:cNvSpPr/>
          <p:nvPr/>
        </p:nvSpPr>
        <p:spPr>
          <a:xfrm>
            <a:off x="8183880" y="2450592"/>
            <a:ext cx="3246120" cy="27432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Subscription Rate</a:t>
            </a:r>
            <a:endParaRPr lang="en-US" sz="1150" dirty="0"/>
          </a:p>
        </p:txBody>
      </p:sp>
      <p:pic>
        <p:nvPicPr>
          <p:cNvPr id="13" name="Image 0" descr="pbi_charts/column_month.png"/>
          <p:cNvPicPr>
            <a:picLocks noChangeAspect="1"/>
          </p:cNvPicPr>
          <p:nvPr/>
        </p:nvPicPr>
        <p:blipFill>
          <a:blip r:embed="rId3"/>
          <a:stretch>
            <a:fillRect/>
          </a:stretch>
        </p:blipFill>
        <p:spPr>
          <a:xfrm>
            <a:off x="548640" y="3017520"/>
            <a:ext cx="5102352" cy="2834640"/>
          </a:xfrm>
          <a:prstGeom prst="rect">
            <a:avLst/>
          </a:prstGeom>
        </p:spPr>
      </p:pic>
      <p:sp>
        <p:nvSpPr>
          <p:cNvPr id="14" name="Text 11"/>
          <p:cNvSpPr/>
          <p:nvPr/>
        </p:nvSpPr>
        <p:spPr>
          <a:xfrm>
            <a:off x="548640" y="5879592"/>
            <a:ext cx="5102352" cy="274320"/>
          </a:xfrm>
          <a:prstGeom prst="rect">
            <a:avLst/>
          </a:prstGeom>
          <a:noFill/>
          <a:ln/>
        </p:spPr>
        <p:txBody>
          <a:bodyPr wrap="square" rtlCol="0" anchor="ctr"/>
          <a:lstStyle/>
          <a:p>
            <a:pPr marL="0" indent="0" algn="ctr">
              <a:buNone/>
            </a:pPr>
            <a:r>
              <a:rPr lang="en-US" sz="1050" i="1" dirty="0">
                <a:solidFill>
                  <a:srgbClr val="555555"/>
                </a:solidFill>
              </a:rPr>
              <a:t>Subscribed Customers by Month</a:t>
            </a:r>
            <a:endParaRPr lang="en-US" sz="1050" dirty="0"/>
          </a:p>
        </p:txBody>
      </p:sp>
      <p:pic>
        <p:nvPicPr>
          <p:cNvPr id="15" name="Image 1" descr="pbi_charts/donut_contact.png"/>
          <p:cNvPicPr>
            <a:picLocks noChangeAspect="1"/>
          </p:cNvPicPr>
          <p:nvPr/>
        </p:nvPicPr>
        <p:blipFill>
          <a:blip r:embed="rId4"/>
          <a:stretch>
            <a:fillRect/>
          </a:stretch>
        </p:blipFill>
        <p:spPr>
          <a:xfrm>
            <a:off x="8547977" y="3017520"/>
            <a:ext cx="3092335" cy="2834640"/>
          </a:xfrm>
          <a:prstGeom prst="rect">
            <a:avLst/>
          </a:prstGeom>
        </p:spPr>
      </p:pic>
      <p:sp>
        <p:nvSpPr>
          <p:cNvPr id="16" name="Text 12"/>
          <p:cNvSpPr/>
          <p:nvPr/>
        </p:nvSpPr>
        <p:spPr>
          <a:xfrm>
            <a:off x="8547977" y="5879592"/>
            <a:ext cx="3092335" cy="274320"/>
          </a:xfrm>
          <a:prstGeom prst="rect">
            <a:avLst/>
          </a:prstGeom>
          <a:noFill/>
          <a:ln/>
        </p:spPr>
        <p:txBody>
          <a:bodyPr wrap="square" rtlCol="0" anchor="ctr"/>
          <a:lstStyle/>
          <a:p>
            <a:pPr marL="0" indent="0" algn="ctr">
              <a:buNone/>
            </a:pPr>
            <a:r>
              <a:rPr lang="en-US" sz="1050" i="1" dirty="0">
                <a:solidFill>
                  <a:srgbClr val="555555"/>
                </a:solidFill>
              </a:rPr>
              <a:t>Subscribed Customers by Contact Type</a:t>
            </a:r>
            <a:endParaRPr lang="en-US" sz="1050" dirty="0"/>
          </a:p>
        </p:txBody>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FINDINGS</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Key Insights</a:t>
            </a:r>
            <a:endParaRPr lang="en-US" sz="3000" dirty="0"/>
          </a:p>
        </p:txBody>
      </p:sp>
      <p:sp>
        <p:nvSpPr>
          <p:cNvPr id="4" name="Shape 2"/>
          <p:cNvSpPr/>
          <p:nvPr/>
        </p:nvSpPr>
        <p:spPr>
          <a:xfrm>
            <a:off x="548640" y="1920240"/>
            <a:ext cx="5440680" cy="1874520"/>
          </a:xfrm>
          <a:prstGeom prst="roundRect">
            <a:avLst>
              <a:gd name="adj" fmla="val 3902"/>
            </a:avLst>
          </a:prstGeom>
          <a:solidFill>
            <a:srgbClr val="F4F6F9"/>
          </a:solidFill>
          <a:ln w="12700">
            <a:solidFill>
              <a:srgbClr val="DADFE6"/>
            </a:solidFill>
            <a:prstDash val="solid"/>
          </a:ln>
        </p:spPr>
      </p:sp>
      <p:sp>
        <p:nvSpPr>
          <p:cNvPr id="5" name="Shape 3"/>
          <p:cNvSpPr/>
          <p:nvPr/>
        </p:nvSpPr>
        <p:spPr>
          <a:xfrm>
            <a:off x="548640" y="1920240"/>
            <a:ext cx="82296" cy="1874520"/>
          </a:xfrm>
          <a:prstGeom prst="rect">
            <a:avLst/>
          </a:prstGeom>
          <a:solidFill>
            <a:srgbClr val="C9A227"/>
          </a:solidFill>
          <a:ln/>
        </p:spPr>
      </p:sp>
      <p:sp>
        <p:nvSpPr>
          <p:cNvPr id="6" name="Text 4"/>
          <p:cNvSpPr/>
          <p:nvPr/>
        </p:nvSpPr>
        <p:spPr>
          <a:xfrm>
            <a:off x="822960" y="2057400"/>
            <a:ext cx="4892040" cy="411480"/>
          </a:xfrm>
          <a:prstGeom prst="rect">
            <a:avLst/>
          </a:prstGeom>
          <a:noFill/>
          <a:ln/>
        </p:spPr>
        <p:txBody>
          <a:bodyPr wrap="square"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Segment beats volume</a:t>
            </a:r>
            <a:endParaRPr lang="en-US" sz="1600" dirty="0"/>
          </a:p>
        </p:txBody>
      </p:sp>
      <p:sp>
        <p:nvSpPr>
          <p:cNvPr id="7" name="Text 5"/>
          <p:cNvSpPr/>
          <p:nvPr/>
        </p:nvSpPr>
        <p:spPr>
          <a:xfrm>
            <a:off x="822960" y="2514600"/>
            <a:ext cx="4892040" cy="1143000"/>
          </a:xfrm>
          <a:prstGeom prst="rect">
            <a:avLst/>
          </a:prstGeom>
          <a:noFill/>
          <a:ln/>
        </p:spPr>
        <p:txBody>
          <a:bodyPr wrap="square" rtlCol="0" anchor="t"/>
          <a:lstStyle/>
          <a:p>
            <a:pPr marL="0" indent="0">
              <a:buNone/>
            </a:pPr>
            <a:r>
              <a:rPr lang="en-US" sz="1300" dirty="0">
                <a:solidFill>
                  <a:srgbClr val="222222"/>
                </a:solidFill>
                <a:latin typeface="Calibri" pitchFamily="34" charset="0"/>
                <a:ea typeface="Calibri" pitchFamily="34" charset="-122"/>
                <a:cs typeface="Calibri" pitchFamily="34" charset="-120"/>
              </a:rPr>
              <a:t>Students &amp; retirees convert at 25–31% — 2–3× the 11.3% average — despite low contact volume.</a:t>
            </a:r>
            <a:endParaRPr lang="en-US" sz="1300" dirty="0"/>
          </a:p>
        </p:txBody>
      </p:sp>
      <p:sp>
        <p:nvSpPr>
          <p:cNvPr id="8" name="Shape 6"/>
          <p:cNvSpPr/>
          <p:nvPr/>
        </p:nvSpPr>
        <p:spPr>
          <a:xfrm>
            <a:off x="6263640" y="1920240"/>
            <a:ext cx="5440680" cy="1874520"/>
          </a:xfrm>
          <a:prstGeom prst="roundRect">
            <a:avLst>
              <a:gd name="adj" fmla="val 3902"/>
            </a:avLst>
          </a:prstGeom>
          <a:solidFill>
            <a:srgbClr val="F4F6F9"/>
          </a:solidFill>
          <a:ln w="12700">
            <a:solidFill>
              <a:srgbClr val="DADFE6"/>
            </a:solidFill>
            <a:prstDash val="solid"/>
          </a:ln>
        </p:spPr>
      </p:sp>
      <p:sp>
        <p:nvSpPr>
          <p:cNvPr id="9" name="Shape 7"/>
          <p:cNvSpPr/>
          <p:nvPr/>
        </p:nvSpPr>
        <p:spPr>
          <a:xfrm>
            <a:off x="6263640" y="1920240"/>
            <a:ext cx="82296" cy="1874520"/>
          </a:xfrm>
          <a:prstGeom prst="rect">
            <a:avLst/>
          </a:prstGeom>
          <a:solidFill>
            <a:srgbClr val="C9A227"/>
          </a:solidFill>
          <a:ln/>
        </p:spPr>
      </p:sp>
      <p:sp>
        <p:nvSpPr>
          <p:cNvPr id="10" name="Text 8"/>
          <p:cNvSpPr/>
          <p:nvPr/>
        </p:nvSpPr>
        <p:spPr>
          <a:xfrm>
            <a:off x="6537960" y="2057400"/>
            <a:ext cx="4892040" cy="411480"/>
          </a:xfrm>
          <a:prstGeom prst="rect">
            <a:avLst/>
          </a:prstGeom>
          <a:noFill/>
          <a:ln/>
        </p:spPr>
        <p:txBody>
          <a:bodyPr wrap="square"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Channel matters</a:t>
            </a:r>
            <a:endParaRPr lang="en-US" sz="1600" dirty="0"/>
          </a:p>
        </p:txBody>
      </p:sp>
      <p:sp>
        <p:nvSpPr>
          <p:cNvPr id="11" name="Text 9"/>
          <p:cNvSpPr/>
          <p:nvPr/>
        </p:nvSpPr>
        <p:spPr>
          <a:xfrm>
            <a:off x="6537960" y="2514600"/>
            <a:ext cx="4892040" cy="1143000"/>
          </a:xfrm>
          <a:prstGeom prst="rect">
            <a:avLst/>
          </a:prstGeom>
          <a:noFill/>
          <a:ln/>
        </p:spPr>
        <p:txBody>
          <a:bodyPr wrap="square" rtlCol="0" anchor="t"/>
          <a:lstStyle/>
          <a:p>
            <a:pPr marL="0" indent="0">
              <a:buNone/>
            </a:pPr>
            <a:r>
              <a:rPr lang="en-US" sz="1300" dirty="0">
                <a:solidFill>
                  <a:srgbClr val="222222"/>
                </a:solidFill>
                <a:latin typeface="Calibri" pitchFamily="34" charset="0"/>
                <a:ea typeface="Calibri" pitchFamily="34" charset="-122"/>
                <a:cs typeface="Calibri" pitchFamily="34" charset="-120"/>
              </a:rPr>
              <a:t>~83% of all subscriptions came through cellular contact, not landline telephone.</a:t>
            </a:r>
            <a:endParaRPr lang="en-US" sz="1300" dirty="0"/>
          </a:p>
        </p:txBody>
      </p:sp>
      <p:sp>
        <p:nvSpPr>
          <p:cNvPr id="12" name="Shape 10"/>
          <p:cNvSpPr/>
          <p:nvPr/>
        </p:nvSpPr>
        <p:spPr>
          <a:xfrm>
            <a:off x="548640" y="4069080"/>
            <a:ext cx="5440680" cy="1874520"/>
          </a:xfrm>
          <a:prstGeom prst="roundRect">
            <a:avLst>
              <a:gd name="adj" fmla="val 3902"/>
            </a:avLst>
          </a:prstGeom>
          <a:solidFill>
            <a:srgbClr val="F4F6F9"/>
          </a:solidFill>
          <a:ln w="12700">
            <a:solidFill>
              <a:srgbClr val="DADFE6"/>
            </a:solidFill>
            <a:prstDash val="solid"/>
          </a:ln>
        </p:spPr>
      </p:sp>
      <p:sp>
        <p:nvSpPr>
          <p:cNvPr id="13" name="Shape 11"/>
          <p:cNvSpPr/>
          <p:nvPr/>
        </p:nvSpPr>
        <p:spPr>
          <a:xfrm>
            <a:off x="548640" y="4069080"/>
            <a:ext cx="82296" cy="1874520"/>
          </a:xfrm>
          <a:prstGeom prst="rect">
            <a:avLst/>
          </a:prstGeom>
          <a:solidFill>
            <a:srgbClr val="C9A227"/>
          </a:solidFill>
          <a:ln/>
        </p:spPr>
      </p:sp>
      <p:sp>
        <p:nvSpPr>
          <p:cNvPr id="14" name="Text 12"/>
          <p:cNvSpPr/>
          <p:nvPr/>
        </p:nvSpPr>
        <p:spPr>
          <a:xfrm>
            <a:off x="822960" y="4206240"/>
            <a:ext cx="4892040" cy="411480"/>
          </a:xfrm>
          <a:prstGeom prst="rect">
            <a:avLst/>
          </a:prstGeom>
          <a:noFill/>
          <a:ln/>
        </p:spPr>
        <p:txBody>
          <a:bodyPr wrap="square"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Timing matters</a:t>
            </a:r>
            <a:endParaRPr lang="en-US" sz="1600" dirty="0"/>
          </a:p>
        </p:txBody>
      </p:sp>
      <p:sp>
        <p:nvSpPr>
          <p:cNvPr id="15" name="Text 13"/>
          <p:cNvSpPr/>
          <p:nvPr/>
        </p:nvSpPr>
        <p:spPr>
          <a:xfrm>
            <a:off x="822960" y="4663440"/>
            <a:ext cx="4892040" cy="1143000"/>
          </a:xfrm>
          <a:prstGeom prst="rect">
            <a:avLst/>
          </a:prstGeom>
          <a:noFill/>
          <a:ln/>
        </p:spPr>
        <p:txBody>
          <a:bodyPr wrap="square" rtlCol="0" anchor="t"/>
          <a:lstStyle/>
          <a:p>
            <a:pPr marL="0" indent="0">
              <a:buNone/>
            </a:pPr>
            <a:r>
              <a:rPr lang="en-US" sz="1300" dirty="0">
                <a:solidFill>
                  <a:srgbClr val="222222"/>
                </a:solidFill>
                <a:latin typeface="Calibri" pitchFamily="34" charset="0"/>
                <a:ea typeface="Calibri" pitchFamily="34" charset="-122"/>
                <a:cs typeface="Calibri" pitchFamily="34" charset="-120"/>
              </a:rPr>
              <a:t>May, followed by Jul–Aug, produced the largest subscription volumes of the campaign.</a:t>
            </a:r>
            <a:endParaRPr lang="en-US" sz="1300" dirty="0"/>
          </a:p>
        </p:txBody>
      </p:sp>
      <p:sp>
        <p:nvSpPr>
          <p:cNvPr id="16" name="Shape 14"/>
          <p:cNvSpPr/>
          <p:nvPr/>
        </p:nvSpPr>
        <p:spPr>
          <a:xfrm>
            <a:off x="6263640" y="4069080"/>
            <a:ext cx="5440680" cy="1874520"/>
          </a:xfrm>
          <a:prstGeom prst="roundRect">
            <a:avLst>
              <a:gd name="adj" fmla="val 3902"/>
            </a:avLst>
          </a:prstGeom>
          <a:solidFill>
            <a:srgbClr val="F4F6F9"/>
          </a:solidFill>
          <a:ln w="12700">
            <a:solidFill>
              <a:srgbClr val="DADFE6"/>
            </a:solidFill>
            <a:prstDash val="solid"/>
          </a:ln>
        </p:spPr>
      </p:sp>
      <p:sp>
        <p:nvSpPr>
          <p:cNvPr id="17" name="Shape 15"/>
          <p:cNvSpPr/>
          <p:nvPr/>
        </p:nvSpPr>
        <p:spPr>
          <a:xfrm>
            <a:off x="6263640" y="4069080"/>
            <a:ext cx="82296" cy="1874520"/>
          </a:xfrm>
          <a:prstGeom prst="rect">
            <a:avLst/>
          </a:prstGeom>
          <a:solidFill>
            <a:srgbClr val="C9A227"/>
          </a:solidFill>
          <a:ln/>
        </p:spPr>
      </p:sp>
      <p:sp>
        <p:nvSpPr>
          <p:cNvPr id="18" name="Text 16"/>
          <p:cNvSpPr/>
          <p:nvPr/>
        </p:nvSpPr>
        <p:spPr>
          <a:xfrm>
            <a:off x="6537960" y="4206240"/>
            <a:ext cx="4892040" cy="411480"/>
          </a:xfrm>
          <a:prstGeom prst="rect">
            <a:avLst/>
          </a:prstGeom>
          <a:noFill/>
          <a:ln/>
        </p:spPr>
        <p:txBody>
          <a:bodyPr wrap="square" rtlCol="0" anchor="ctr"/>
          <a:lstStyle/>
          <a:p>
            <a:pPr marL="0" indent="0">
              <a:buNone/>
            </a:pPr>
            <a:r>
              <a:rPr lang="en-US" sz="1600" b="1" dirty="0">
                <a:solidFill>
                  <a:srgbClr val="1F2A44"/>
                </a:solidFill>
                <a:latin typeface="Calibri" pitchFamily="34" charset="0"/>
                <a:ea typeface="Calibri" pitchFamily="34" charset="-122"/>
                <a:cs typeface="Calibri" pitchFamily="34" charset="-120"/>
              </a:rPr>
              <a:t>Duration ≠ predictor</a:t>
            </a:r>
            <a:endParaRPr lang="en-US" sz="1600" dirty="0"/>
          </a:p>
        </p:txBody>
      </p:sp>
      <p:sp>
        <p:nvSpPr>
          <p:cNvPr id="19" name="Text 17"/>
          <p:cNvSpPr/>
          <p:nvPr/>
        </p:nvSpPr>
        <p:spPr>
          <a:xfrm>
            <a:off x="6537960" y="4663440"/>
            <a:ext cx="4892040" cy="1143000"/>
          </a:xfrm>
          <a:prstGeom prst="rect">
            <a:avLst/>
          </a:prstGeom>
          <a:noFill/>
          <a:ln/>
        </p:spPr>
        <p:txBody>
          <a:bodyPr wrap="square" rtlCol="0" anchor="t"/>
          <a:lstStyle/>
          <a:p>
            <a:pPr marL="0" indent="0">
              <a:buNone/>
            </a:pPr>
            <a:r>
              <a:rPr lang="en-US" sz="1300" dirty="0">
                <a:solidFill>
                  <a:srgbClr val="222222"/>
                </a:solidFill>
                <a:latin typeface="Calibri" pitchFamily="34" charset="0"/>
                <a:ea typeface="Calibri" pitchFamily="34" charset="-122"/>
                <a:cs typeface="Calibri" pitchFamily="34" charset="-120"/>
              </a:rPr>
              <a:t>Call duration correlates most with outcome, but is only known after the call — unusable for pre-call targeting.</a:t>
            </a:r>
            <a:endParaRPr lang="en-US" sz="1300" dirty="0"/>
          </a:p>
        </p:txBody>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Predictive Model Performance</a:t>
            </a:r>
            <a:endParaRPr lang="en-US" sz="3000" dirty="0"/>
          </a:p>
        </p:txBody>
      </p:sp>
      <p:pic>
        <p:nvPicPr>
          <p:cNvPr id="4" name="Image 0" descr="nb_images/cell_31.png"/>
          <p:cNvPicPr>
            <a:picLocks noChangeAspect="1"/>
          </p:cNvPicPr>
          <p:nvPr/>
        </p:nvPicPr>
        <p:blipFill>
          <a:blip r:embed="rId3"/>
          <a:stretch>
            <a:fillRect/>
          </a:stretch>
        </p:blipFill>
        <p:spPr>
          <a:xfrm>
            <a:off x="640080" y="2011680"/>
            <a:ext cx="4206240" cy="3168863"/>
          </a:xfrm>
          <a:prstGeom prst="rect">
            <a:avLst/>
          </a:prstGeom>
        </p:spPr>
      </p:pic>
      <p:sp>
        <p:nvSpPr>
          <p:cNvPr id="5" name="Text 2"/>
          <p:cNvSpPr/>
          <p:nvPr/>
        </p:nvSpPr>
        <p:spPr>
          <a:xfrm>
            <a:off x="640080" y="5226263"/>
            <a:ext cx="4206240" cy="274320"/>
          </a:xfrm>
          <a:prstGeom prst="rect">
            <a:avLst/>
          </a:prstGeom>
          <a:noFill/>
          <a:ln/>
        </p:spPr>
        <p:txBody>
          <a:bodyPr wrap="square" rtlCol="0" anchor="ctr"/>
          <a:lstStyle/>
          <a:p>
            <a:pPr marL="0" indent="0" algn="ctr">
              <a:buNone/>
            </a:pPr>
            <a:r>
              <a:rPr lang="en-US" sz="1100" i="1" dirty="0">
                <a:solidFill>
                  <a:srgbClr val="555555"/>
                </a:solidFill>
              </a:rPr>
              <a:t>Confusion Matrix — Logistic Regression</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0" y="2103120"/>
          <a:ext cx="612648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rPr>
                        <a:t>Metric</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"No"</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"Yes"</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000000"/>
                          </a:solidFill>
                        </a:rPr>
                        <a:t>Precision</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0.92</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0.66</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00" dirty="0">
                          <a:solidFill>
                            <a:srgbClr val="000000"/>
                          </a:solidFill>
                        </a:rPr>
                        <a:t>Recall</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0.97</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0.40</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300" dirty="0">
                          <a:solidFill>
                            <a:srgbClr val="000000"/>
                          </a:solidFill>
                        </a:rPr>
                        <a:t>F1-score</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0.95</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tc>
                  <a:txBody>
                    <a:bodyPr/>
                    <a:lstStyle/>
                    <a:p>
                      <a:pPr marL="0" indent="0">
                        <a:buNone/>
                      </a:pPr>
                      <a:r>
                        <a:rPr lang="en-US" sz="1300" dirty="0">
                          <a:solidFill>
                            <a:srgbClr val="000000"/>
                          </a:solidFill>
                        </a:rPr>
                        <a:t>0.50</a:t>
                      </a:r>
                      <a:endParaRPr lang="en-US" sz="1300" dirty="0"/>
                    </a:p>
                  </a:txBody>
                  <a:tcP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3"/>
          <p:cNvSpPr/>
          <p:nvPr/>
        </p:nvSpPr>
        <p:spPr>
          <a:xfrm>
            <a:off x="5486400" y="3977640"/>
            <a:ext cx="6126480" cy="1965960"/>
          </a:xfrm>
          <a:prstGeom prst="roundRect">
            <a:avLst/>
          </a:prstGeom>
          <a:solidFill>
            <a:srgbClr val="F4F6F9"/>
          </a:solidFill>
          <a:ln w="12700">
            <a:solidFill>
              <a:srgbClr val="C9A227"/>
            </a:solidFill>
            <a:prstDash val="solid"/>
          </a:ln>
        </p:spPr>
      </p:sp>
      <p:sp>
        <p:nvSpPr>
          <p:cNvPr id="8" name="Text 4"/>
          <p:cNvSpPr/>
          <p:nvPr/>
        </p:nvSpPr>
        <p:spPr>
          <a:xfrm>
            <a:off x="5715000" y="4114800"/>
            <a:ext cx="5669280" cy="1737360"/>
          </a:xfrm>
          <a:prstGeom prst="rect">
            <a:avLst/>
          </a:prstGeom>
          <a:noFill/>
          <a:ln/>
        </p:spPr>
        <p:txBody>
          <a:bodyPr wrap="square" rtlCol="0" anchor="t"/>
          <a:lstStyle/>
          <a:p>
            <a:pPr marL="0" indent="0">
              <a:buNone/>
            </a:pPr>
            <a:r>
              <a:rPr lang="en-US" sz="1600" b="1" dirty="0">
                <a:solidFill>
                  <a:srgbClr val="1F2A44"/>
                </a:solidFill>
                <a:latin typeface="Calibri" pitchFamily="34" charset="0"/>
                <a:ea typeface="Calibri" pitchFamily="34" charset="-122"/>
                <a:cs typeface="Calibri" pitchFamily="34" charset="-120"/>
              </a:rPr>
              <a:t>Overall accuracy: 90.46%
</a:t>
            </a:r>
            <a:endParaRPr lang="en-US" sz="1600" dirty="0"/>
          </a:p>
          <a:p>
            <a:pPr marL="0" indent="0">
              <a:buNone/>
            </a:pPr>
            <a:r>
              <a:rPr lang="en-US" sz="1300" dirty="0">
                <a:solidFill>
                  <a:srgbClr val="222222"/>
                </a:solidFill>
                <a:latin typeface="Calibri" pitchFamily="34" charset="0"/>
                <a:ea typeface="Calibri" pitchFamily="34" charset="-122"/>
                <a:cs typeface="Calibri" pitchFamily="34" charset="-120"/>
              </a:rPr>
              <a:t>But recall on actual subscribers is only 40% — the model misses roughly 6 in 10 real prospects. Accuracy alone is misleading on this imbalanced (88.7% / 11.3%) dataset.</a:t>
            </a:r>
            <a:endParaRPr lang="en-US" sz="1600" dirty="0"/>
          </a:p>
        </p:txBody>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CHALLENGES</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Obstacles &amp; How They Were Solved</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868680">
                <a:tc>
                  <a:txBody>
                    <a:bodyPr/>
                    <a:lstStyle/>
                    <a:p>
                      <a:pPr marL="0" indent="0">
                        <a:buNone/>
                      </a:pPr>
                      <a:r>
                        <a:rPr lang="en-US" sz="1300" b="1" dirty="0">
                          <a:solidFill>
                            <a:srgbClr val="FFFFFF"/>
                          </a:solidFill>
                        </a:rPr>
                        <a:t>Area</a:t>
                      </a:r>
                      <a:endParaRPr lang="en-US" sz="130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Challenge</a:t>
                      </a:r>
                      <a:endParaRPr lang="en-US" sz="130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Resolution</a:t>
                      </a:r>
                      <a:endParaRPr lang="en-US" sz="130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68680">
                <a:tc>
                  <a:txBody>
                    <a:bodyPr/>
                    <a:lstStyle/>
                    <a:p>
                      <a:pPr marL="0" indent="0">
                        <a:buNone/>
                      </a:pPr>
                      <a:r>
                        <a:rPr lang="en-US" sz="1250" b="1" dirty="0">
                          <a:solidFill>
                            <a:srgbClr val="1F2A44"/>
                          </a:solidFill>
                        </a:rPr>
                        <a:t>Data Cleaning</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FFFFF"/>
                    </a:solidFill>
                  </a:tcPr>
                </a:tc>
                <a:tc>
                  <a:txBody>
                    <a:bodyPr/>
                    <a:lstStyle/>
                    <a:p>
                      <a:pPr marL="0" indent="0">
                        <a:buNone/>
                      </a:pPr>
                      <a:r>
                        <a:rPr lang="en-US" sz="1250" dirty="0">
                          <a:solidFill>
                            <a:srgbClr val="222222"/>
                          </a:solidFill>
                        </a:rPr>
                        <a:t>"Unknown" categories looked like missing data</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FFFFF"/>
                    </a:solidFill>
                  </a:tcPr>
                </a:tc>
                <a:tc>
                  <a:txBody>
                    <a:bodyPr/>
                    <a:lstStyle/>
                    <a:p>
                      <a:pPr marL="0" indent="0">
                        <a:buNone/>
                      </a:pPr>
                      <a:r>
                        <a:rPr lang="en-US" sz="1250" dirty="0">
                          <a:solidFill>
                            <a:srgbClr val="222222"/>
                          </a:solidFill>
                        </a:rPr>
                        <a:t>Kept as a valid category rather than imputed or dropped</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250" b="1" dirty="0">
                          <a:solidFill>
                            <a:srgbClr val="1F2A44"/>
                          </a:solidFill>
                        </a:rPr>
                        <a:t>SQL Implementation</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4F6F9"/>
                    </a:solidFill>
                  </a:tcPr>
                </a:tc>
                <a:tc>
                  <a:txBody>
                    <a:bodyPr/>
                    <a:lstStyle/>
                    <a:p>
                      <a:pPr marL="0" indent="0">
                        <a:buNone/>
                      </a:pPr>
                      <a:r>
                        <a:rPr lang="en-US" sz="1250" dirty="0">
                          <a:solidFill>
                            <a:srgbClr val="222222"/>
                          </a:solidFill>
                        </a:rPr>
                        <a:t>Queries assumed numeric y (1/0), source CSV uses text</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4F6F9"/>
                    </a:solidFill>
                  </a:tcPr>
                </a:tc>
                <a:tc>
                  <a:txBody>
                    <a:bodyPr/>
                    <a:lstStyle/>
                    <a:p>
                      <a:pPr marL="0" indent="0">
                        <a:buNone/>
                      </a:pPr>
                      <a:r>
                        <a:rPr lang="en-US" sz="1250" dirty="0">
                          <a:solidFill>
                            <a:srgbClr val="222222"/>
                          </a:solidFill>
                        </a:rPr>
                        <a:t>Mapped y = 1 to "yes" and cross-checked against raw counts</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868680">
                <a:tc>
                  <a:txBody>
                    <a:bodyPr/>
                    <a:lstStyle/>
                    <a:p>
                      <a:pPr marL="0" indent="0">
                        <a:buNone/>
                      </a:pPr>
                      <a:r>
                        <a:rPr lang="en-US" sz="1250" b="1" dirty="0">
                          <a:solidFill>
                            <a:srgbClr val="1F2A44"/>
                          </a:solidFill>
                        </a:rPr>
                        <a:t>Power BI Visualisation</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FFFFF"/>
                    </a:solidFill>
                  </a:tcPr>
                </a:tc>
                <a:tc>
                  <a:txBody>
                    <a:bodyPr/>
                    <a:lstStyle/>
                    <a:p>
                      <a:pPr marL="0" indent="0">
                        <a:buNone/>
                      </a:pPr>
                      <a:r>
                        <a:rPr lang="en-US" sz="1250" dirty="0">
                          <a:solidFill>
                            <a:srgbClr val="222222"/>
                          </a:solidFill>
                        </a:rPr>
                        <a:t>.pbix cannot be opened outside Power BI Desktop</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FFFFF"/>
                    </a:solidFill>
                  </a:tcPr>
                </a:tc>
                <a:tc>
                  <a:txBody>
                    <a:bodyPr/>
                    <a:lstStyle/>
                    <a:p>
                      <a:pPr marL="0" indent="0">
                        <a:buNone/>
                      </a:pPr>
                      <a:r>
                        <a:rPr lang="en-US" sz="1250" dirty="0">
                          <a:solidFill>
                            <a:srgbClr val="222222"/>
                          </a:solidFill>
                        </a:rPr>
                        <a:t>Parsed the report's internal layout file to recover visuals &amp; fields exactly</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buNone/>
                      </a:pPr>
                      <a:r>
                        <a:rPr lang="en-US" sz="1250" b="1" dirty="0">
                          <a:solidFill>
                            <a:srgbClr val="1F2A44"/>
                          </a:solidFill>
                        </a:rPr>
                        <a:t>Analysis</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4F6F9"/>
                    </a:solidFill>
                  </a:tcPr>
                </a:tc>
                <a:tc>
                  <a:txBody>
                    <a:bodyPr/>
                    <a:lstStyle/>
                    <a:p>
                      <a:pPr marL="0" indent="0">
                        <a:buNone/>
                      </a:pPr>
                      <a:r>
                        <a:rPr lang="en-US" sz="1250" dirty="0">
                          <a:solidFill>
                            <a:srgbClr val="222222"/>
                          </a:solidFill>
                        </a:rPr>
                        <a:t>88.7% / 11.3% class imbalance makes accuracy misleading</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4F6F9"/>
                    </a:solidFill>
                  </a:tcPr>
                </a:tc>
                <a:tc>
                  <a:txBody>
                    <a:bodyPr/>
                    <a:lstStyle/>
                    <a:p>
                      <a:pPr marL="0" indent="0">
                        <a:buNone/>
                      </a:pPr>
                      <a:r>
                        <a:rPr lang="en-US" sz="1250" dirty="0">
                          <a:solidFill>
                            <a:srgbClr val="222222"/>
                          </a:solidFill>
                        </a:rPr>
                        <a:t>Reported precision, recall &amp; F1 per class instead of accuracy alone</a:t>
                      </a:r>
                      <a:endParaRPr lang="en-US" sz="1250" dirty="0"/>
                    </a:p>
                  </a:txBody>
                  <a:tcPr anchor="ctr">
                    <a:lnL w="6350" cap="flat" cmpd="sng" algn="ctr">
                      <a:solidFill>
                        <a:srgbClr val="DADFE6"/>
                      </a:solidFill>
                      <a:prstDash val="solid"/>
                      <a:round/>
                      <a:headEnd type="none" w="med" len="med"/>
                      <a:tailEnd type="none" w="med" len="med"/>
                    </a:lnL>
                    <a:lnR w="6350" cap="flat" cmpd="sng" algn="ctr">
                      <a:solidFill>
                        <a:srgbClr val="DADFE6"/>
                      </a:solidFill>
                      <a:prstDash val="solid"/>
                      <a:round/>
                      <a:headEnd type="none" w="med" len="med"/>
                      <a:tailEnd type="none" w="med" len="med"/>
                    </a:lnR>
                    <a:lnT w="6350" cap="flat" cmpd="sng" algn="ctr">
                      <a:solidFill>
                        <a:srgbClr val="DADFE6"/>
                      </a:solidFill>
                      <a:prstDash val="solid"/>
                      <a:round/>
                      <a:headEnd type="none" w="med" len="med"/>
                      <a:tailEnd type="none" w="med" len="med"/>
                    </a:lnT>
                    <a:lnB w="6350" cap="flat" cmpd="sng" algn="ctr">
                      <a:solidFill>
                        <a:srgbClr val="DADFE6"/>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658368"/>
            <a:ext cx="10972800" cy="320040"/>
          </a:xfrm>
          <a:prstGeom prst="rect">
            <a:avLst/>
          </a:prstGeom>
          <a:noFill/>
          <a:ln/>
        </p:spPr>
        <p:txBody>
          <a:bodyPr wrap="square"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RECOMMENDATIONS</a:t>
            </a:r>
            <a:endParaRPr lang="en-US" sz="1300" dirty="0"/>
          </a:p>
        </p:txBody>
      </p:sp>
      <p:sp>
        <p:nvSpPr>
          <p:cNvPr id="3" name="Text 1"/>
          <p:cNvSpPr/>
          <p:nvPr/>
        </p:nvSpPr>
        <p:spPr>
          <a:xfrm>
            <a:off x="548640" y="960120"/>
            <a:ext cx="11064240" cy="685800"/>
          </a:xfrm>
          <a:prstGeom prst="rect">
            <a:avLst/>
          </a:prstGeom>
          <a:noFill/>
          <a:ln/>
        </p:spPr>
        <p:txBody>
          <a:bodyPr wrap="square" rtlCol="0" anchor="ctr"/>
          <a:lstStyle/>
          <a:p>
            <a:pPr marL="0" indent="0">
              <a:buNone/>
            </a:pPr>
            <a:r>
              <a:rPr lang="en-US" sz="3000" b="1" dirty="0">
                <a:solidFill>
                  <a:srgbClr val="1F2A44"/>
                </a:solidFill>
                <a:latin typeface="Calibri" pitchFamily="34" charset="0"/>
                <a:ea typeface="Calibri" pitchFamily="34" charset="-122"/>
                <a:cs typeface="Calibri" pitchFamily="34" charset="-120"/>
              </a:rPr>
              <a:t>Data-Driven Next Steps</a:t>
            </a:r>
            <a:endParaRPr lang="en-US" sz="3000" dirty="0"/>
          </a:p>
        </p:txBody>
      </p:sp>
      <p:sp>
        <p:nvSpPr>
          <p:cNvPr id="4" name="Text 2"/>
          <p:cNvSpPr/>
          <p:nvPr/>
        </p:nvSpPr>
        <p:spPr>
          <a:xfrm>
            <a:off x="548640" y="1920240"/>
            <a:ext cx="11064240" cy="4206240"/>
          </a:xfrm>
          <a:prstGeom prst="rect">
            <a:avLst/>
          </a:prstGeom>
          <a:noFill/>
          <a:ln/>
        </p:spPr>
        <p:txBody>
          <a:bodyPr wrap="square" rtlCol="0" anchor="t"/>
          <a:lstStyle/>
          <a:p>
            <a:pPr marL="228600" indent="-228600">
              <a:lnSpc>
                <a:spcPct val="115000"/>
              </a:lnSpc>
              <a:spcAft>
                <a:spcPts val="1800"/>
              </a:spcAft>
              <a:buSzPct val="100000"/>
              <a:buChar char="•"/>
            </a:pPr>
            <a:r>
              <a:rPr lang="en-US" sz="1650" dirty="0">
                <a:solidFill>
                  <a:srgbClr val="222222"/>
                </a:solidFill>
                <a:latin typeface="Calibri" pitchFamily="34" charset="0"/>
                <a:ea typeface="Calibri" pitchFamily="34" charset="-122"/>
                <a:cs typeface="Calibri" pitchFamily="34" charset="-120"/>
              </a:rPr>
              <a:t>Prioritise students and retirees in future campaign lists — 2–3× the average conversion rate</a:t>
            </a:r>
            <a:endParaRPr lang="en-US" sz="1650" dirty="0"/>
          </a:p>
          <a:p>
            <a:pPr marL="228600" indent="-228600">
              <a:lnSpc>
                <a:spcPct val="115000"/>
              </a:lnSpc>
              <a:spcAft>
                <a:spcPts val="1800"/>
              </a:spcAft>
              <a:buSzPct val="100000"/>
              <a:buChar char="•"/>
            </a:pPr>
            <a:r>
              <a:rPr lang="en-US" sz="1650" dirty="0">
                <a:solidFill>
                  <a:srgbClr val="222222"/>
                </a:solidFill>
                <a:latin typeface="Calibri" pitchFamily="34" charset="0"/>
                <a:ea typeface="Calibri" pitchFamily="34" charset="-122"/>
                <a:cs typeface="Calibri" pitchFamily="34" charset="-120"/>
              </a:rPr>
              <a:t>Shift outreach toward cellular contact; consider phasing out landline telephone calls</a:t>
            </a:r>
            <a:endParaRPr lang="en-US" sz="1650" dirty="0"/>
          </a:p>
          <a:p>
            <a:pPr marL="228600" indent="-228600">
              <a:lnSpc>
                <a:spcPct val="115000"/>
              </a:lnSpc>
              <a:spcAft>
                <a:spcPts val="1800"/>
              </a:spcAft>
              <a:buSzPct val="100000"/>
              <a:buChar char="•"/>
            </a:pPr>
            <a:r>
              <a:rPr lang="en-US" sz="1650" dirty="0">
                <a:solidFill>
                  <a:srgbClr val="222222"/>
                </a:solidFill>
                <a:latin typeface="Calibri" pitchFamily="34" charset="0"/>
                <a:ea typeface="Calibri" pitchFamily="34" charset="-122"/>
                <a:cs typeface="Calibri" pitchFamily="34" charset="-120"/>
              </a:rPr>
              <a:t>Concentrate campaign timing around May and the Jul–Aug window</a:t>
            </a:r>
            <a:endParaRPr lang="en-US" sz="1650" dirty="0"/>
          </a:p>
          <a:p>
            <a:pPr marL="228600" indent="-228600">
              <a:lnSpc>
                <a:spcPct val="115000"/>
              </a:lnSpc>
              <a:spcAft>
                <a:spcPts val="1800"/>
              </a:spcAft>
              <a:buSzPct val="100000"/>
              <a:buChar char="•"/>
            </a:pPr>
            <a:r>
              <a:rPr lang="en-US" sz="1650" dirty="0">
                <a:solidFill>
                  <a:srgbClr val="222222"/>
                </a:solidFill>
                <a:latin typeface="Calibri" pitchFamily="34" charset="0"/>
                <a:ea typeface="Calibri" pitchFamily="34" charset="-122"/>
                <a:cs typeface="Calibri" pitchFamily="34" charset="-120"/>
              </a:rPr>
              <a:t>Do not deploy the current model as-is — address class imbalance and scale features before live use</a:t>
            </a:r>
            <a:endParaRPr lang="en-US" sz="1650" dirty="0"/>
          </a:p>
          <a:p>
            <a:pPr marL="228600" indent="-228600">
              <a:lnSpc>
                <a:spcPct val="115000"/>
              </a:lnSpc>
              <a:spcAft>
                <a:spcPts val="1800"/>
              </a:spcAft>
              <a:buSzPct val="100000"/>
              <a:buChar char="•"/>
            </a:pPr>
            <a:r>
              <a:rPr lang="en-US" sz="1650" dirty="0">
                <a:solidFill>
                  <a:srgbClr val="222222"/>
                </a:solidFill>
                <a:latin typeface="Calibri" pitchFamily="34" charset="0"/>
                <a:ea typeface="Calibri" pitchFamily="34" charset="-122"/>
                <a:cs typeface="Calibri" pitchFamily="34" charset="-120"/>
              </a:rPr>
              <a:t>Exclude call duration from any pre-call targeting model to avoid data leakage</a:t>
            </a:r>
            <a:endParaRPr lang="en-US" sz="1650" dirty="0"/>
          </a:p>
          <a:p>
            <a:pPr marL="228600" indent="-228600">
              <a:lnSpc>
                <a:spcPct val="115000"/>
              </a:lnSpc>
              <a:spcAft>
                <a:spcPts val="1800"/>
              </a:spcAft>
              <a:buSzPct val="100000"/>
              <a:buChar char="•"/>
            </a:pPr>
            <a:r>
              <a:rPr lang="en-US" sz="1650" dirty="0">
                <a:solidFill>
                  <a:srgbClr val="222222"/>
                </a:solidFill>
                <a:latin typeface="Calibri" pitchFamily="34" charset="0"/>
                <a:ea typeface="Calibri" pitchFamily="34" charset="-122"/>
                <a:cs typeface="Calibri" pitchFamily="34" charset="-120"/>
              </a:rPr>
              <a:t>Extend the Power BI dashboard with a subscription-rate (not just volume) trend by month</a:t>
            </a:r>
            <a:endParaRPr lang="en-US" sz="1650" dirty="0"/>
          </a:p>
        </p:txBody>
      </p:sp>
      <p:sp>
        <p:nvSpPr>
          <p:cNvPr id="25" name="Slide Number Placeholder 0"/>
          <p:cNvSpPr>
            <a:spLocks noGrp="1"/>
          </p:cNvSpPr>
          <p:nvPr>
            <p:ph type="sldNum" sz="quarter" idx="4294967295"/>
          </p:nvPr>
        </p:nvSpPr>
        <p:spPr>
          <a:xfrm>
            <a:off x="1161288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55555"/>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A44"/>
        </a:solidFill>
        <a:effectLst/>
      </p:bgPr>
    </p:bg>
    <p:spTree>
      <p:nvGrpSpPr>
        <p:cNvPr id="1" name=""/>
        <p:cNvGrpSpPr/>
        <p:nvPr/>
      </p:nvGrpSpPr>
      <p:grpSpPr>
        <a:xfrm>
          <a:off x="0" y="0"/>
          <a:ext cx="0" cy="0"/>
          <a:chOff x="0" y="0"/>
          <a:chExt cx="0" cy="0"/>
        </a:xfrm>
      </p:grpSpPr>
      <p:sp>
        <p:nvSpPr>
          <p:cNvPr id="2" name="Text 0"/>
          <p:cNvSpPr/>
          <p:nvPr/>
        </p:nvSpPr>
        <p:spPr>
          <a:xfrm>
            <a:off x="731520" y="822960"/>
            <a:ext cx="10698480" cy="548640"/>
          </a:xfrm>
          <a:prstGeom prst="rect">
            <a:avLst/>
          </a:prstGeom>
          <a:noFill/>
          <a:ln/>
        </p:spPr>
        <p:txBody>
          <a:bodyPr wrap="square" rtlCol="0" anchor="ctr"/>
          <a:lstStyle/>
          <a:p>
            <a:pPr marL="0" indent="0" algn="ctr">
              <a:buNone/>
            </a:pPr>
            <a:r>
              <a:rPr lang="en-US" sz="1600" b="1" kern="0" spc="150" dirty="0">
                <a:solidFill>
                  <a:srgbClr val="C9A227"/>
                </a:solidFill>
                <a:latin typeface="Calibri" pitchFamily="34" charset="0"/>
                <a:ea typeface="Calibri" pitchFamily="34" charset="-122"/>
                <a:cs typeface="Calibri" pitchFamily="34" charset="-120"/>
              </a:rPr>
              <a:t>Conclusion</a:t>
            </a:r>
            <a:endParaRPr lang="en-US" sz="1600" dirty="0"/>
          </a:p>
        </p:txBody>
      </p:sp>
      <p:sp>
        <p:nvSpPr>
          <p:cNvPr id="3" name="Text 1"/>
          <p:cNvSpPr/>
          <p:nvPr/>
        </p:nvSpPr>
        <p:spPr>
          <a:xfrm>
            <a:off x="1097280" y="1554480"/>
            <a:ext cx="9966960" cy="1463040"/>
          </a:xfrm>
          <a:prstGeom prst="rect">
            <a:avLst/>
          </a:prstGeom>
          <a:noFill/>
          <a:ln/>
        </p:spPr>
        <p:txBody>
          <a:bodyPr wrap="square" rtlCol="0" anchor="ctr"/>
          <a:lstStyle/>
          <a:p>
            <a:pPr marL="0" indent="0" algn="ctr">
              <a:lnSpc>
                <a:spcPct val="130000"/>
              </a:lnSpc>
              <a:buNone/>
            </a:pPr>
            <a:r>
              <a:rPr lang="en-US" sz="1800" dirty="0">
                <a:solidFill>
                  <a:srgbClr val="FFFFFF"/>
                </a:solidFill>
                <a:latin typeface="Calibri" pitchFamily="34" charset="0"/>
                <a:ea typeface="Calibri" pitchFamily="34" charset="-122"/>
                <a:cs typeface="Calibri" pitchFamily="34" charset="-120"/>
              </a:rPr>
              <a:t>A consistent story across Python, SQL, and Power BI: conversion is</a:t>
            </a:r>
            <a:endParaRPr lang="en-US" sz="1800" dirty="0"/>
          </a:p>
          <a:p>
            <a:pPr marL="0" indent="0" algn="ctr">
              <a:lnSpc>
                <a:spcPct val="130000"/>
              </a:lnSpc>
              <a:buNone/>
            </a:pPr>
            <a:r>
              <a:rPr lang="en-US" sz="1800" dirty="0">
                <a:solidFill>
                  <a:srgbClr val="FFFFFF"/>
                </a:solidFill>
                <a:latin typeface="Calibri" pitchFamily="34" charset="0"/>
                <a:ea typeface="Calibri" pitchFamily="34" charset="-122"/>
                <a:cs typeface="Calibri" pitchFamily="34" charset="-120"/>
              </a:rPr>
              <a:t>segment-dependent, channel and timing matter, and the baseline model</a:t>
            </a:r>
            <a:endParaRPr lang="en-US" sz="1800" dirty="0"/>
          </a:p>
          <a:p>
            <a:pPr marL="0" indent="0" algn="ctr">
              <a:lnSpc>
                <a:spcPct val="130000"/>
              </a:lnSpc>
              <a:buNone/>
            </a:pPr>
            <a:r>
              <a:rPr lang="en-US" sz="1800" dirty="0">
                <a:solidFill>
                  <a:srgbClr val="FFFFFF"/>
                </a:solidFill>
                <a:latin typeface="Calibri" pitchFamily="34" charset="0"/>
                <a:ea typeface="Calibri" pitchFamily="34" charset="-122"/>
                <a:cs typeface="Calibri" pitchFamily="34" charset="-120"/>
              </a:rPr>
              <a:t>needs further work before it can safely guide live campaign targeting.</a:t>
            </a:r>
            <a:endParaRPr lang="en-US" sz="1800" dirty="0"/>
          </a:p>
        </p:txBody>
      </p:sp>
      <p:sp>
        <p:nvSpPr>
          <p:cNvPr id="4" name="Shape 2"/>
          <p:cNvSpPr/>
          <p:nvPr/>
        </p:nvSpPr>
        <p:spPr>
          <a:xfrm>
            <a:off x="4718304" y="3246120"/>
            <a:ext cx="2743200" cy="36576"/>
          </a:xfrm>
          <a:prstGeom prst="rect">
            <a:avLst/>
          </a:prstGeom>
          <a:solidFill>
            <a:srgbClr val="C9A227"/>
          </a:solidFill>
          <a:ln/>
        </p:spPr>
      </p:sp>
      <p:sp>
        <p:nvSpPr>
          <p:cNvPr id="5" name="Text 3"/>
          <p:cNvSpPr/>
          <p:nvPr/>
        </p:nvSpPr>
        <p:spPr>
          <a:xfrm>
            <a:off x="731520" y="3566160"/>
            <a:ext cx="10698480" cy="91440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6" name="Text 4"/>
          <p:cNvSpPr/>
          <p:nvPr/>
        </p:nvSpPr>
        <p:spPr>
          <a:xfrm>
            <a:off x="731520" y="4480560"/>
            <a:ext cx="10698480" cy="457200"/>
          </a:xfrm>
          <a:prstGeom prst="rect">
            <a:avLst/>
          </a:prstGeom>
          <a:noFill/>
          <a:ln/>
        </p:spPr>
        <p:txBody>
          <a:bodyPr wrap="square" rtlCol="0" anchor="ctr"/>
          <a:lstStyle/>
          <a:p>
            <a:pPr marL="0" indent="0" algn="ctr">
              <a:buNone/>
            </a:pPr>
            <a:r>
              <a:rPr lang="en-US" sz="1500" i="1" dirty="0">
                <a:solidFill>
                  <a:srgbClr val="C7CEDC"/>
                </a:solidFill>
                <a:latin typeface="Calibri" pitchFamily="34" charset="0"/>
                <a:ea typeface="Calibri" pitchFamily="34" charset="-122"/>
                <a:cs typeface="Calibri" pitchFamily="34" charset="-120"/>
              </a:rPr>
              <a:t>Questions &amp; Discussion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1721</Words>
  <Application>Microsoft Office PowerPoint</Application>
  <PresentationFormat>Widescreen</PresentationFormat>
  <Paragraphs>193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Win11_Pro</cp:lastModifiedBy>
  <cp:revision>2</cp:revision>
  <dcterms:created xsi:type="dcterms:W3CDTF">2026-07-24T19:37:44Z</dcterms:created>
  <dcterms:modified xsi:type="dcterms:W3CDTF">2026-07-24T21:06:08Z</dcterms:modified>
</cp:coreProperties>
</file>